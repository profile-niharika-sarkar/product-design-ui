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6858000" cy="9144000"/>
  <p:embeddedFontLst>
    <p:embeddedFont>
      <p:font typeface="DM Sans" pitchFamily="2" charset="0"/>
      <p:regular r:id="rId13"/>
    </p:embeddedFont>
    <p:embeddedFont>
      <p:font typeface="DM Sans Bold" panose="020B0604020202020204" charset="0"/>
      <p:regular r:id="rId14"/>
    </p:embeddedFont>
    <p:embeddedFont>
      <p:font typeface="DM Sans Italics" panose="020B0604020202020204" charset="0"/>
      <p:regular r:id="rId15"/>
    </p:embeddedFont>
    <p:embeddedFont>
      <p:font typeface="Libre Baskerville" panose="02000000000000000000" pitchFamily="2" charset="0"/>
      <p:regular r:id="rId16"/>
    </p:embeddedFont>
    <p:embeddedFont>
      <p:font typeface="Libre Baskerville Bold" panose="020B0604020202020204" charset="0"/>
      <p:regular r:id="rId17"/>
    </p:embeddedFont>
    <p:embeddedFont>
      <p:font typeface="Libre Baskerville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8" d="100"/>
          <a:sy n="48" d="100"/>
        </p:scale>
        <p:origin x="1637" y="50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.jpeg"/><Relationship Id="rId7" Type="http://schemas.openxmlformats.org/officeDocument/2006/relationships/image" Target="../media/image1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svg"/><Relationship Id="rId4" Type="http://schemas.openxmlformats.org/officeDocument/2006/relationships/image" Target="../media/image3.svg"/><Relationship Id="rId9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.jpeg"/><Relationship Id="rId7" Type="http://schemas.openxmlformats.org/officeDocument/2006/relationships/image" Target="../media/image2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3.sv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gif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svg"/><Relationship Id="rId18" Type="http://schemas.openxmlformats.org/officeDocument/2006/relationships/image" Target="../media/image45.png"/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12" Type="http://schemas.openxmlformats.org/officeDocument/2006/relationships/image" Target="../media/image39.svg"/><Relationship Id="rId17" Type="http://schemas.openxmlformats.org/officeDocument/2006/relationships/image" Target="../media/image44.png"/><Relationship Id="rId2" Type="http://schemas.openxmlformats.org/officeDocument/2006/relationships/image" Target="../media/image1.svg"/><Relationship Id="rId16" Type="http://schemas.openxmlformats.org/officeDocument/2006/relationships/image" Target="../media/image43.png"/><Relationship Id="rId20" Type="http://schemas.openxmlformats.org/officeDocument/2006/relationships/image" Target="../media/image4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5" Type="http://schemas.openxmlformats.org/officeDocument/2006/relationships/image" Target="../media/image42.png"/><Relationship Id="rId10" Type="http://schemas.openxmlformats.org/officeDocument/2006/relationships/image" Target="../media/image37.svg"/><Relationship Id="rId19" Type="http://schemas.openxmlformats.org/officeDocument/2006/relationships/image" Target="../media/image46.svg"/><Relationship Id="rId4" Type="http://schemas.openxmlformats.org/officeDocument/2006/relationships/image" Target="../media/image3.svg"/><Relationship Id="rId9" Type="http://schemas.openxmlformats.org/officeDocument/2006/relationships/image" Target="../media/image36.svg"/><Relationship Id="rId14" Type="http://schemas.openxmlformats.org/officeDocument/2006/relationships/image" Target="../media/image4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2.jpeg"/><Relationship Id="rId7" Type="http://schemas.openxmlformats.org/officeDocument/2006/relationships/image" Target="../media/image4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jpeg"/><Relationship Id="rId5" Type="http://schemas.openxmlformats.org/officeDocument/2006/relationships/image" Target="../media/image16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3" Type="http://schemas.openxmlformats.org/officeDocument/2006/relationships/image" Target="../media/image2.jpeg"/><Relationship Id="rId7" Type="http://schemas.openxmlformats.org/officeDocument/2006/relationships/image" Target="../media/image53.svg"/><Relationship Id="rId12" Type="http://schemas.openxmlformats.org/officeDocument/2006/relationships/image" Target="../media/image5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11" Type="http://schemas.openxmlformats.org/officeDocument/2006/relationships/image" Target="../media/image57.svg"/><Relationship Id="rId5" Type="http://schemas.openxmlformats.org/officeDocument/2006/relationships/image" Target="../media/image51.svg"/><Relationship Id="rId15" Type="http://schemas.openxmlformats.org/officeDocument/2006/relationships/image" Target="../media/image61.svg"/><Relationship Id="rId10" Type="http://schemas.openxmlformats.org/officeDocument/2006/relationships/image" Target="../media/image56.svg"/><Relationship Id="rId4" Type="http://schemas.openxmlformats.org/officeDocument/2006/relationships/image" Target="../media/image3.svg"/><Relationship Id="rId9" Type="http://schemas.openxmlformats.org/officeDocument/2006/relationships/image" Target="../media/image55.svg"/><Relationship Id="rId14" Type="http://schemas.openxmlformats.org/officeDocument/2006/relationships/image" Target="../media/image6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2.jpeg"/><Relationship Id="rId7" Type="http://schemas.openxmlformats.org/officeDocument/2006/relationships/image" Target="../media/image6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jpeg"/><Relationship Id="rId11" Type="http://schemas.openxmlformats.org/officeDocument/2006/relationships/image" Target="../media/image67.svg"/><Relationship Id="rId5" Type="http://schemas.openxmlformats.org/officeDocument/2006/relationships/image" Target="../media/image16.svg"/><Relationship Id="rId10" Type="http://schemas.openxmlformats.org/officeDocument/2006/relationships/image" Target="../media/image66.svg"/><Relationship Id="rId4" Type="http://schemas.openxmlformats.org/officeDocument/2006/relationships/image" Target="../media/image3.svg"/><Relationship Id="rId9" Type="http://schemas.openxmlformats.org/officeDocument/2006/relationships/image" Target="../media/image6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3" Type="http://schemas.openxmlformats.org/officeDocument/2006/relationships/image" Target="../media/image2.jpeg"/><Relationship Id="rId7" Type="http://schemas.openxmlformats.org/officeDocument/2006/relationships/image" Target="../media/image70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jpeg"/><Relationship Id="rId5" Type="http://schemas.openxmlformats.org/officeDocument/2006/relationships/image" Target="../media/image68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2.jpeg"/><Relationship Id="rId7" Type="http://schemas.openxmlformats.org/officeDocument/2006/relationships/image" Target="../media/image7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svg"/><Relationship Id="rId11" Type="http://schemas.openxmlformats.org/officeDocument/2006/relationships/image" Target="../media/image8.jpeg"/><Relationship Id="rId5" Type="http://schemas.openxmlformats.org/officeDocument/2006/relationships/image" Target="../media/image72.svg"/><Relationship Id="rId10" Type="http://schemas.openxmlformats.org/officeDocument/2006/relationships/hyperlink" Target="mailto:dc-dehradun@spym.org" TargetMode="External"/><Relationship Id="rId4" Type="http://schemas.openxmlformats.org/officeDocument/2006/relationships/image" Target="../media/image3.svg"/><Relationship Id="rId9" Type="http://schemas.openxmlformats.org/officeDocument/2006/relationships/image" Target="../media/image7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839214" y="7749540"/>
            <a:ext cx="1722606" cy="411480"/>
            <a:chOff x="0" y="0"/>
            <a:chExt cx="2296808" cy="548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96795" cy="548640"/>
            </a:xfrm>
            <a:custGeom>
              <a:avLst/>
              <a:gdLst/>
              <a:ahLst/>
              <a:cxnLst/>
              <a:rect l="l" t="t" r="r" b="b"/>
              <a:pathLst>
                <a:path w="2296795" h="548640">
                  <a:moveTo>
                    <a:pt x="0" y="0"/>
                  </a:moveTo>
                  <a:lnTo>
                    <a:pt x="2296795" y="0"/>
                  </a:lnTo>
                  <a:lnTo>
                    <a:pt x="2296795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9144000" y="0"/>
            <a:ext cx="5486400" cy="8229600"/>
          </a:xfrm>
          <a:custGeom>
            <a:avLst/>
            <a:gdLst/>
            <a:ahLst/>
            <a:cxnLst/>
            <a:rect l="l" t="t" r="r" b="b"/>
            <a:pathLst>
              <a:path w="5486400" h="8229600">
                <a:moveTo>
                  <a:pt x="0" y="0"/>
                </a:moveTo>
                <a:lnTo>
                  <a:pt x="5486400" y="0"/>
                </a:lnTo>
                <a:lnTo>
                  <a:pt x="5486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747864" y="0"/>
            <a:ext cx="5882536" cy="8229600"/>
            <a:chOff x="0" y="0"/>
            <a:chExt cx="7843381" cy="1097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43381" cy="10972800"/>
            </a:xfrm>
            <a:custGeom>
              <a:avLst/>
              <a:gdLst/>
              <a:ahLst/>
              <a:cxnLst/>
              <a:rect l="l" t="t" r="r" b="b"/>
              <a:pathLst>
                <a:path w="7843381" h="10972800">
                  <a:moveTo>
                    <a:pt x="0" y="0"/>
                  </a:moveTo>
                  <a:lnTo>
                    <a:pt x="7843381" y="0"/>
                  </a:lnTo>
                  <a:lnTo>
                    <a:pt x="784338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340" r="-32319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793794" y="2564016"/>
            <a:ext cx="7556421" cy="1417558"/>
          </a:xfrm>
          <a:custGeom>
            <a:avLst/>
            <a:gdLst/>
            <a:ahLst/>
            <a:cxnLst/>
            <a:rect l="l" t="t" r="r" b="b"/>
            <a:pathLst>
              <a:path w="7556421" h="1417558">
                <a:moveTo>
                  <a:pt x="0" y="0"/>
                </a:moveTo>
                <a:lnTo>
                  <a:pt x="7556421" y="0"/>
                </a:lnTo>
                <a:lnTo>
                  <a:pt x="7556421" y="1417558"/>
                </a:lnTo>
                <a:lnTo>
                  <a:pt x="0" y="14175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173458" y="5393893"/>
            <a:ext cx="1114741" cy="1096109"/>
          </a:xfrm>
          <a:custGeom>
            <a:avLst/>
            <a:gdLst/>
            <a:ahLst/>
            <a:cxnLst/>
            <a:rect l="l" t="t" r="r" b="b"/>
            <a:pathLst>
              <a:path w="1114741" h="1096109">
                <a:moveTo>
                  <a:pt x="0" y="0"/>
                </a:moveTo>
                <a:lnTo>
                  <a:pt x="1114741" y="0"/>
                </a:lnTo>
                <a:lnTo>
                  <a:pt x="1114741" y="1096109"/>
                </a:lnTo>
                <a:lnTo>
                  <a:pt x="0" y="10961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83123" t="-60527" r="-99193" b="-70732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288376" y="898370"/>
            <a:ext cx="2567255" cy="1096109"/>
          </a:xfrm>
          <a:custGeom>
            <a:avLst/>
            <a:gdLst/>
            <a:ahLst/>
            <a:cxnLst/>
            <a:rect l="l" t="t" r="r" b="b"/>
            <a:pathLst>
              <a:path w="2567255" h="1096109">
                <a:moveTo>
                  <a:pt x="0" y="0"/>
                </a:moveTo>
                <a:lnTo>
                  <a:pt x="2567255" y="0"/>
                </a:lnTo>
                <a:lnTo>
                  <a:pt x="2567255" y="1096109"/>
                </a:lnTo>
                <a:lnTo>
                  <a:pt x="0" y="10961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8193" t="-56964" r="-321356" b="-673199"/>
            </a:stretch>
          </a:blipFill>
        </p:spPr>
      </p:sp>
      <p:sp>
        <p:nvSpPr>
          <p:cNvPr id="14" name="AutoShape 14"/>
          <p:cNvSpPr/>
          <p:nvPr/>
        </p:nvSpPr>
        <p:spPr>
          <a:xfrm>
            <a:off x="1276431" y="7169024"/>
            <a:ext cx="6591147" cy="0"/>
          </a:xfrm>
          <a:prstGeom prst="line">
            <a:avLst/>
          </a:prstGeom>
          <a:ln w="9525" cap="flat">
            <a:solidFill>
              <a:srgbClr val="5C4E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9884498" y="7061696"/>
            <a:ext cx="3816019" cy="814730"/>
            <a:chOff x="0" y="0"/>
            <a:chExt cx="981486" cy="2095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81486" cy="209550"/>
            </a:xfrm>
            <a:custGeom>
              <a:avLst/>
              <a:gdLst/>
              <a:ahLst/>
              <a:cxnLst/>
              <a:rect l="l" t="t" r="r" b="b"/>
              <a:pathLst>
                <a:path w="981486" h="209550">
                  <a:moveTo>
                    <a:pt x="0" y="0"/>
                  </a:moveTo>
                  <a:lnTo>
                    <a:pt x="981486" y="0"/>
                  </a:lnTo>
                  <a:lnTo>
                    <a:pt x="981486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FFFDFA">
                <a:alpha val="86667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33350"/>
              <a:ext cx="981486" cy="342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98824" y="2472125"/>
            <a:ext cx="8549040" cy="746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7"/>
              </a:lnSpc>
            </a:pPr>
            <a:r>
              <a:rPr lang="en-US" sz="4200" dirty="0" err="1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Rajkiya</a:t>
            </a:r>
            <a:r>
              <a:rPr lang="en-US" sz="420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Nasha Mukti Kendra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39333" y="4102456"/>
            <a:ext cx="60303" cy="48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07006" y="3368829"/>
            <a:ext cx="5787861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 dirty="0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Annual Progress Report (2025–26) &amp; </a:t>
            </a:r>
          </a:p>
          <a:p>
            <a:pPr algn="ctr">
              <a:lnSpc>
                <a:spcPts val="3599"/>
              </a:lnSpc>
            </a:pPr>
            <a:r>
              <a:rPr lang="en-US" sz="2399" b="1" dirty="0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Strategic Action Plan (2026–27)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94649" y="4433479"/>
            <a:ext cx="5845726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1" dirty="0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Building a Drug-Free Uttarakhand Through Holistic Healing and Educational Intervention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59709" y="7430961"/>
            <a:ext cx="3907869" cy="21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19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Date of Presentation: 28/03/2026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2960" y="7321424"/>
            <a:ext cx="3907869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19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Supported by: </a:t>
            </a:r>
          </a:p>
          <a:p>
            <a:pPr algn="l">
              <a:lnSpc>
                <a:spcPts val="1799"/>
              </a:lnSpc>
            </a:pPr>
            <a:r>
              <a:rPr lang="en-US" sz="119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Department of Social Welfare, Uttarakhand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72231" y="7111874"/>
            <a:ext cx="3440552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1">
                <a:solidFill>
                  <a:srgbClr val="5C4E3D"/>
                </a:solidFill>
                <a:latin typeface="DM Sans Bold"/>
                <a:ea typeface="DM Sans Bold"/>
                <a:cs typeface="DM Sans Bold"/>
                <a:sym typeface="DM Sans Bold"/>
              </a:rPr>
              <a:t>DM Dehradun Mr. Savin Bansal launched Helpline number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79383" y="1890836"/>
            <a:ext cx="3340541" cy="417547"/>
          </a:xfrm>
          <a:custGeom>
            <a:avLst/>
            <a:gdLst/>
            <a:ahLst/>
            <a:cxnLst/>
            <a:rect l="l" t="t" r="r" b="b"/>
            <a:pathLst>
              <a:path w="3340541" h="417547">
                <a:moveTo>
                  <a:pt x="0" y="0"/>
                </a:moveTo>
                <a:lnTo>
                  <a:pt x="3340541" y="0"/>
                </a:lnTo>
                <a:lnTo>
                  <a:pt x="3340541" y="417548"/>
                </a:lnTo>
                <a:lnTo>
                  <a:pt x="0" y="417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79383" y="648414"/>
            <a:ext cx="10910287" cy="695925"/>
          </a:xfrm>
          <a:custGeom>
            <a:avLst/>
            <a:gdLst/>
            <a:ahLst/>
            <a:cxnLst/>
            <a:rect l="l" t="t" r="r" b="b"/>
            <a:pathLst>
              <a:path w="10910287" h="695925">
                <a:moveTo>
                  <a:pt x="0" y="0"/>
                </a:moveTo>
                <a:lnTo>
                  <a:pt x="10910288" y="0"/>
                </a:lnTo>
                <a:lnTo>
                  <a:pt x="10910288" y="695925"/>
                </a:lnTo>
                <a:lnTo>
                  <a:pt x="0" y="695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2960" y="3295408"/>
            <a:ext cx="234779" cy="331843"/>
          </a:xfrm>
          <a:custGeom>
            <a:avLst/>
            <a:gdLst/>
            <a:ahLst/>
            <a:cxnLst/>
            <a:rect l="l" t="t" r="r" b="b"/>
            <a:pathLst>
              <a:path w="234779" h="331843">
                <a:moveTo>
                  <a:pt x="0" y="0"/>
                </a:moveTo>
                <a:lnTo>
                  <a:pt x="234779" y="0"/>
                </a:lnTo>
                <a:lnTo>
                  <a:pt x="234779" y="331843"/>
                </a:lnTo>
                <a:lnTo>
                  <a:pt x="0" y="3318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7891" y="3847952"/>
            <a:ext cx="3150370" cy="162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Dehradun (Headquarters)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Haridwar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Tehri Garhwal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Chamoli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1135" y="3142039"/>
            <a:ext cx="2685201" cy="514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6"/>
              </a:lnSpc>
            </a:pPr>
            <a:r>
              <a:rPr lang="en-US" sz="25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Focus Districts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175471" y="2873724"/>
            <a:ext cx="9518503" cy="3096221"/>
            <a:chOff x="693688" y="-542295"/>
            <a:chExt cx="12691335" cy="4128295"/>
          </a:xfrm>
        </p:grpSpPr>
        <p:sp>
          <p:nvSpPr>
            <p:cNvPr id="13" name="Freeform 13"/>
            <p:cNvSpPr/>
            <p:nvPr/>
          </p:nvSpPr>
          <p:spPr>
            <a:xfrm>
              <a:off x="3497363" y="-133362"/>
              <a:ext cx="2686501" cy="3586000"/>
            </a:xfrm>
            <a:custGeom>
              <a:avLst/>
              <a:gdLst/>
              <a:ahLst/>
              <a:cxnLst/>
              <a:rect l="l" t="t" r="r" b="b"/>
              <a:pathLst>
                <a:path w="2686501" h="3586000">
                  <a:moveTo>
                    <a:pt x="0" y="0"/>
                  </a:moveTo>
                  <a:lnTo>
                    <a:pt x="2686501" y="0"/>
                  </a:lnTo>
                  <a:lnTo>
                    <a:pt x="2686501" y="3586000"/>
                  </a:lnTo>
                  <a:lnTo>
                    <a:pt x="0" y="35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0185813" y="-101875"/>
              <a:ext cx="3199210" cy="3586000"/>
            </a:xfrm>
            <a:custGeom>
              <a:avLst/>
              <a:gdLst/>
              <a:ahLst/>
              <a:cxnLst/>
              <a:rect l="l" t="t" r="r" b="b"/>
              <a:pathLst>
                <a:path w="3199210" h="3586000">
                  <a:moveTo>
                    <a:pt x="0" y="0"/>
                  </a:moveTo>
                  <a:lnTo>
                    <a:pt x="3199210" y="0"/>
                  </a:lnTo>
                  <a:lnTo>
                    <a:pt x="3199210" y="3586000"/>
                  </a:lnTo>
                  <a:lnTo>
                    <a:pt x="0" y="35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462196" y="756908"/>
              <a:ext cx="3559205" cy="2695731"/>
            </a:xfrm>
            <a:custGeom>
              <a:avLst/>
              <a:gdLst/>
              <a:ahLst/>
              <a:cxnLst/>
              <a:rect l="l" t="t" r="r" b="b"/>
              <a:pathLst>
                <a:path w="3559205" h="2695730">
                  <a:moveTo>
                    <a:pt x="0" y="0"/>
                  </a:moveTo>
                  <a:lnTo>
                    <a:pt x="3559205" y="0"/>
                  </a:lnTo>
                  <a:lnTo>
                    <a:pt x="3559205" y="2695730"/>
                  </a:lnTo>
                  <a:lnTo>
                    <a:pt x="0" y="2695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93688" y="-542295"/>
              <a:ext cx="5604097" cy="4128295"/>
              <a:chOff x="-743043" y="-133350"/>
              <a:chExt cx="1378043" cy="101514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-743043" y="-30404"/>
                <a:ext cx="635000" cy="881795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881795">
                    <a:moveTo>
                      <a:pt x="0" y="0"/>
                    </a:moveTo>
                    <a:lnTo>
                      <a:pt x="635000" y="0"/>
                    </a:lnTo>
                    <a:lnTo>
                      <a:pt x="635000" y="881795"/>
                    </a:lnTo>
                    <a:lnTo>
                      <a:pt x="0" y="881795"/>
                    </a:lnTo>
                    <a:close/>
                  </a:path>
                </a:pathLst>
              </a:custGeom>
              <a:solidFill>
                <a:srgbClr val="FFFDFA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33350"/>
                <a:ext cx="635000" cy="10151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4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742654" y="-73359"/>
              <a:ext cx="2584000" cy="3385392"/>
            </a:xfrm>
            <a:custGeom>
              <a:avLst/>
              <a:gdLst/>
              <a:ahLst/>
              <a:cxnLst/>
              <a:rect l="l" t="t" r="r" b="b"/>
              <a:pathLst>
                <a:path w="2584000" h="3385392">
                  <a:moveTo>
                    <a:pt x="0" y="0"/>
                  </a:moveTo>
                  <a:lnTo>
                    <a:pt x="2583999" y="0"/>
                  </a:lnTo>
                  <a:lnTo>
                    <a:pt x="2583999" y="3385392"/>
                  </a:lnTo>
                  <a:lnTo>
                    <a:pt x="0" y="3385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5340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822960" y="737235"/>
            <a:ext cx="11045704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Overview &amp; Geographic Scope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0983" y="2307707"/>
            <a:ext cx="60303" cy="48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0689" y="1847872"/>
            <a:ext cx="11045704" cy="82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1800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Our comprehensive rehabilitation and awareness program , span into four key districts across Uttarakhand, reaching communities most affected by substance abuse.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2960" y="7061835"/>
            <a:ext cx="12906327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120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Implemented by:</a:t>
            </a:r>
            <a:r>
              <a:rPr lang="en-US" sz="12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SPYM in association with Department of Social Welfare, Uttarakhand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5486400" cy="8229600"/>
          </a:xfrm>
          <a:custGeom>
            <a:avLst/>
            <a:gdLst/>
            <a:ahLst/>
            <a:cxnLst/>
            <a:rect l="l" t="t" r="r" b="b"/>
            <a:pathLst>
              <a:path w="5486400" h="8229600">
                <a:moveTo>
                  <a:pt x="0" y="0"/>
                </a:moveTo>
                <a:lnTo>
                  <a:pt x="5486400" y="0"/>
                </a:lnTo>
                <a:lnTo>
                  <a:pt x="5486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0"/>
            <a:ext cx="5486400" cy="8229600"/>
            <a:chOff x="0" y="0"/>
            <a:chExt cx="7315200" cy="1097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15200" cy="10972800"/>
            </a:xfrm>
            <a:custGeom>
              <a:avLst/>
              <a:gdLst/>
              <a:ahLst/>
              <a:cxnLst/>
              <a:rect l="l" t="t" r="r" b="b"/>
              <a:pathLst>
                <a:path w="7315200" h="109728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2397" r="-62397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6280194" y="1754972"/>
            <a:ext cx="30480" cy="1236107"/>
          </a:xfrm>
          <a:custGeom>
            <a:avLst/>
            <a:gdLst/>
            <a:ahLst/>
            <a:cxnLst/>
            <a:rect l="l" t="t" r="r" b="b"/>
            <a:pathLst>
              <a:path w="30480" h="1236107">
                <a:moveTo>
                  <a:pt x="0" y="0"/>
                </a:moveTo>
                <a:lnTo>
                  <a:pt x="30480" y="0"/>
                </a:lnTo>
                <a:lnTo>
                  <a:pt x="30480" y="1236107"/>
                </a:lnTo>
                <a:lnTo>
                  <a:pt x="0" y="1236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80194" y="1046197"/>
            <a:ext cx="5670594" cy="708774"/>
          </a:xfrm>
          <a:custGeom>
            <a:avLst/>
            <a:gdLst/>
            <a:ahLst/>
            <a:cxnLst/>
            <a:rect l="l" t="t" r="r" b="b"/>
            <a:pathLst>
              <a:path w="5670594" h="708774">
                <a:moveTo>
                  <a:pt x="0" y="0"/>
                </a:moveTo>
                <a:lnTo>
                  <a:pt x="5670595" y="0"/>
                </a:lnTo>
                <a:lnTo>
                  <a:pt x="5670595" y="708775"/>
                </a:lnTo>
                <a:lnTo>
                  <a:pt x="0" y="708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211929" y="3114199"/>
            <a:ext cx="7692942" cy="1821618"/>
          </a:xfrm>
          <a:custGeom>
            <a:avLst/>
            <a:gdLst/>
            <a:ahLst/>
            <a:cxnLst/>
            <a:rect l="l" t="t" r="r" b="b"/>
            <a:pathLst>
              <a:path w="7692942" h="1821618">
                <a:moveTo>
                  <a:pt x="0" y="0"/>
                </a:moveTo>
                <a:lnTo>
                  <a:pt x="7692942" y="0"/>
                </a:lnTo>
                <a:lnTo>
                  <a:pt x="7692942" y="1821618"/>
                </a:lnTo>
                <a:lnTo>
                  <a:pt x="0" y="1821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280194" y="5221567"/>
            <a:ext cx="7692942" cy="1821618"/>
          </a:xfrm>
          <a:custGeom>
            <a:avLst/>
            <a:gdLst/>
            <a:ahLst/>
            <a:cxnLst/>
            <a:rect l="l" t="t" r="r" b="b"/>
            <a:pathLst>
              <a:path w="7692942" h="1821618">
                <a:moveTo>
                  <a:pt x="0" y="0"/>
                </a:moveTo>
                <a:lnTo>
                  <a:pt x="7692943" y="0"/>
                </a:lnTo>
                <a:lnTo>
                  <a:pt x="7692943" y="1821618"/>
                </a:lnTo>
                <a:lnTo>
                  <a:pt x="0" y="1821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20351" y="2350294"/>
            <a:ext cx="7216254" cy="725805"/>
          </a:xfrm>
          <a:custGeom>
            <a:avLst/>
            <a:gdLst/>
            <a:ahLst/>
            <a:cxnLst/>
            <a:rect l="l" t="t" r="r" b="b"/>
            <a:pathLst>
              <a:path w="7216254" h="725805">
                <a:moveTo>
                  <a:pt x="0" y="0"/>
                </a:moveTo>
                <a:lnTo>
                  <a:pt x="7216255" y="0"/>
                </a:lnTo>
                <a:lnTo>
                  <a:pt x="7216255" y="725805"/>
                </a:lnTo>
                <a:lnTo>
                  <a:pt x="0" y="72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280194" y="963301"/>
            <a:ext cx="5302206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Mission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14624" y="3773767"/>
            <a:ext cx="668636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Comprehensive care and rehabilitation services for male adults aimed at recovery and successful reintegration into society.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82889" y="5871610"/>
            <a:ext cx="6874983" cy="83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Community-wide substance use awareness campaigns targeting schools, colleges, and youth populations.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89011" y="1917859"/>
            <a:ext cx="6900596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800" i="1">
                <a:solidFill>
                  <a:srgbClr val="45424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"To ensure holistic healing combined with educational intervention for a resilient society."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82889" y="5487562"/>
            <a:ext cx="1518133" cy="37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Awareness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14624" y="3380194"/>
            <a:ext cx="2066449" cy="37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Rehabilitation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93794" y="4932521"/>
            <a:ext cx="4158615" cy="1088708"/>
          </a:xfrm>
          <a:custGeom>
            <a:avLst/>
            <a:gdLst/>
            <a:ahLst/>
            <a:cxnLst/>
            <a:rect l="l" t="t" r="r" b="b"/>
            <a:pathLst>
              <a:path w="4158615" h="1088708">
                <a:moveTo>
                  <a:pt x="0" y="0"/>
                </a:moveTo>
                <a:lnTo>
                  <a:pt x="4158615" y="0"/>
                </a:lnTo>
                <a:lnTo>
                  <a:pt x="4158615" y="1088708"/>
                </a:lnTo>
                <a:lnTo>
                  <a:pt x="0" y="1088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235892" y="3410302"/>
            <a:ext cx="4158615" cy="748427"/>
          </a:xfrm>
          <a:custGeom>
            <a:avLst/>
            <a:gdLst/>
            <a:ahLst/>
            <a:cxnLst/>
            <a:rect l="l" t="t" r="r" b="b"/>
            <a:pathLst>
              <a:path w="4158615" h="748427">
                <a:moveTo>
                  <a:pt x="0" y="0"/>
                </a:moveTo>
                <a:lnTo>
                  <a:pt x="4158616" y="0"/>
                </a:lnTo>
                <a:lnTo>
                  <a:pt x="4158616" y="748427"/>
                </a:lnTo>
                <a:lnTo>
                  <a:pt x="0" y="748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93794" y="6276384"/>
            <a:ext cx="13042821" cy="362903"/>
          </a:xfrm>
          <a:custGeom>
            <a:avLst/>
            <a:gdLst/>
            <a:ahLst/>
            <a:cxnLst/>
            <a:rect l="l" t="t" r="r" b="b"/>
            <a:pathLst>
              <a:path w="13042821" h="362903">
                <a:moveTo>
                  <a:pt x="0" y="0"/>
                </a:moveTo>
                <a:lnTo>
                  <a:pt x="13042821" y="0"/>
                </a:lnTo>
                <a:lnTo>
                  <a:pt x="13042821" y="362903"/>
                </a:lnTo>
                <a:lnTo>
                  <a:pt x="0" y="3629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93804" y="1590323"/>
            <a:ext cx="10330796" cy="708898"/>
          </a:xfrm>
          <a:custGeom>
            <a:avLst/>
            <a:gdLst/>
            <a:ahLst/>
            <a:cxnLst/>
            <a:rect l="l" t="t" r="r" b="b"/>
            <a:pathLst>
              <a:path w="10330796" h="708898">
                <a:moveTo>
                  <a:pt x="0" y="0"/>
                </a:moveTo>
                <a:lnTo>
                  <a:pt x="10330796" y="0"/>
                </a:lnTo>
                <a:lnTo>
                  <a:pt x="10330796" y="708898"/>
                </a:lnTo>
                <a:lnTo>
                  <a:pt x="0" y="708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678000" y="3410302"/>
            <a:ext cx="4158615" cy="748427"/>
          </a:xfrm>
          <a:custGeom>
            <a:avLst/>
            <a:gdLst/>
            <a:ahLst/>
            <a:cxnLst/>
            <a:rect l="l" t="t" r="r" b="b"/>
            <a:pathLst>
              <a:path w="4158615" h="748427">
                <a:moveTo>
                  <a:pt x="0" y="0"/>
                </a:moveTo>
                <a:lnTo>
                  <a:pt x="4158615" y="0"/>
                </a:lnTo>
                <a:lnTo>
                  <a:pt x="4158615" y="748427"/>
                </a:lnTo>
                <a:lnTo>
                  <a:pt x="0" y="748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59679" y="1054425"/>
            <a:ext cx="8115777" cy="87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62"/>
              </a:lnSpc>
            </a:pPr>
            <a:r>
              <a:rPr lang="en-US" sz="43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Year of Exceptional Reach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32628" y="2306812"/>
            <a:ext cx="131978" cy="81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71"/>
              </a:lnSpc>
            </a:pPr>
            <a:r>
              <a:rPr lang="en-US" sz="35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523" y="2158717"/>
            <a:ext cx="6408477" cy="622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Impact</a:t>
            </a:r>
            <a:r>
              <a:rPr lang="en-US" sz="36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60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Report</a:t>
            </a:r>
            <a:r>
              <a:rPr lang="en-US" sz="36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60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2025–26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6948" y="3173759"/>
            <a:ext cx="1743723" cy="1474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58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125%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27861" y="2998886"/>
            <a:ext cx="2350268" cy="118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58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100%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30738" y="4789446"/>
            <a:ext cx="60303" cy="40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98763" y="2977763"/>
            <a:ext cx="3667020" cy="118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58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50999" y="4789446"/>
            <a:ext cx="60303" cy="40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23587" y="4236685"/>
            <a:ext cx="175006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 b="1">
                <a:solidFill>
                  <a:srgbClr val="45424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CAPACITY</a:t>
            </a:r>
            <a:r>
              <a:rPr lang="en-US" sz="2200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8141" y="4789446"/>
            <a:ext cx="3560952" cy="127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7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Center running beyond full capacity as of March 2026 due to high demand and trust.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1126" y="6553562"/>
            <a:ext cx="12143740" cy="45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9"/>
              </a:lnSpc>
            </a:pPr>
            <a:r>
              <a:rPr lang="en-US" sz="1800" i="1">
                <a:solidFill>
                  <a:srgbClr val="45424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The consistent rise in intake reﬂects growing community trust and demonstrates the critical need for our services.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53115" y="4246528"/>
            <a:ext cx="189976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 b="1" spc="54">
                <a:solidFill>
                  <a:srgbClr val="45424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COVERAGE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88727" y="4789446"/>
            <a:ext cx="4228538" cy="127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7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All Government Senior Secondary Schools in Dehradun District reached with awareness programs.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98506" y="4236685"/>
            <a:ext cx="186753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 b="1" spc="54">
                <a:solidFill>
                  <a:srgbClr val="45424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CERTIFIED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51302" y="4789446"/>
            <a:ext cx="3761943" cy="127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7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Participation certiﬁcates issued to students to encourage long-term advocacy. 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984141" y="4400949"/>
            <a:ext cx="286703" cy="327774"/>
            <a:chOff x="0" y="0"/>
            <a:chExt cx="382270" cy="4370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2270" cy="437007"/>
            </a:xfrm>
            <a:custGeom>
              <a:avLst/>
              <a:gdLst/>
              <a:ahLst/>
              <a:cxnLst/>
              <a:rect l="l" t="t" r="r" b="b"/>
              <a:pathLst>
                <a:path w="382270" h="437007">
                  <a:moveTo>
                    <a:pt x="0" y="0"/>
                  </a:moveTo>
                  <a:lnTo>
                    <a:pt x="382270" y="0"/>
                  </a:lnTo>
                  <a:lnTo>
                    <a:pt x="382270" y="437007"/>
                  </a:lnTo>
                  <a:lnTo>
                    <a:pt x="0" y="437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214735" y="7449178"/>
            <a:ext cx="13100685" cy="225866"/>
          </a:xfrm>
          <a:custGeom>
            <a:avLst/>
            <a:gdLst/>
            <a:ahLst/>
            <a:cxnLst/>
            <a:rect l="l" t="t" r="r" b="b"/>
            <a:pathLst>
              <a:path w="13100685" h="225866">
                <a:moveTo>
                  <a:pt x="0" y="0"/>
                </a:moveTo>
                <a:lnTo>
                  <a:pt x="13100685" y="0"/>
                </a:lnTo>
                <a:lnTo>
                  <a:pt x="13100685" y="225866"/>
                </a:lnTo>
                <a:lnTo>
                  <a:pt x="0" y="225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01604" y="1825140"/>
            <a:ext cx="4525888" cy="161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43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Capacity Growth Trend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36646" y="1142275"/>
            <a:ext cx="94802" cy="47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5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1604" y="3686020"/>
            <a:ext cx="4998403" cy="407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November 2025-March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1604" y="6562973"/>
            <a:ext cx="11421733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center has transitioned to an over-subscribed status, demonstrating consistent growth in intake and increasing demand for our comprehensive rehabilitation services.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1604" y="4415227"/>
            <a:ext cx="499840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Growth Factor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Consistent rise in intake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1604" y="5743647"/>
            <a:ext cx="573769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Status : Over-Subscribed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3B673ED-2B7E-DCFC-2BAC-12B88E13C6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349" y="189999"/>
            <a:ext cx="6850169" cy="68501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93794" y="3162186"/>
            <a:ext cx="566976" cy="566976"/>
          </a:xfrm>
          <a:custGeom>
            <a:avLst/>
            <a:gdLst/>
            <a:ahLst/>
            <a:cxnLst/>
            <a:rect l="l" t="t" r="r" b="b"/>
            <a:pathLst>
              <a:path w="566976" h="566976">
                <a:moveTo>
                  <a:pt x="0" y="0"/>
                </a:moveTo>
                <a:lnTo>
                  <a:pt x="566976" y="0"/>
                </a:lnTo>
                <a:lnTo>
                  <a:pt x="566976" y="566975"/>
                </a:lnTo>
                <a:lnTo>
                  <a:pt x="0" y="566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4253" y="3652599"/>
            <a:ext cx="5529139" cy="1088708"/>
          </a:xfrm>
          <a:custGeom>
            <a:avLst/>
            <a:gdLst/>
            <a:ahLst/>
            <a:cxnLst/>
            <a:rect l="l" t="t" r="r" b="b"/>
            <a:pathLst>
              <a:path w="5529139" h="1088708">
                <a:moveTo>
                  <a:pt x="0" y="0"/>
                </a:moveTo>
                <a:lnTo>
                  <a:pt x="5529139" y="0"/>
                </a:lnTo>
                <a:lnTo>
                  <a:pt x="5529139" y="1088708"/>
                </a:lnTo>
                <a:lnTo>
                  <a:pt x="0" y="1088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44253" y="3162186"/>
            <a:ext cx="2835231" cy="354330"/>
          </a:xfrm>
          <a:custGeom>
            <a:avLst/>
            <a:gdLst/>
            <a:ahLst/>
            <a:cxnLst/>
            <a:rect l="l" t="t" r="r" b="b"/>
            <a:pathLst>
              <a:path w="2835231" h="354330">
                <a:moveTo>
                  <a:pt x="0" y="0"/>
                </a:moveTo>
                <a:lnTo>
                  <a:pt x="2835231" y="0"/>
                </a:lnTo>
                <a:lnTo>
                  <a:pt x="2835231" y="354330"/>
                </a:lnTo>
                <a:lnTo>
                  <a:pt x="0" y="354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456884" y="3162186"/>
            <a:ext cx="566976" cy="566976"/>
          </a:xfrm>
          <a:custGeom>
            <a:avLst/>
            <a:gdLst/>
            <a:ahLst/>
            <a:cxnLst/>
            <a:rect l="l" t="t" r="r" b="b"/>
            <a:pathLst>
              <a:path w="566976" h="566976">
                <a:moveTo>
                  <a:pt x="0" y="0"/>
                </a:moveTo>
                <a:lnTo>
                  <a:pt x="566976" y="0"/>
                </a:lnTo>
                <a:lnTo>
                  <a:pt x="566976" y="566975"/>
                </a:lnTo>
                <a:lnTo>
                  <a:pt x="0" y="566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93794" y="5194935"/>
            <a:ext cx="566976" cy="566976"/>
          </a:xfrm>
          <a:custGeom>
            <a:avLst/>
            <a:gdLst/>
            <a:ahLst/>
            <a:cxnLst/>
            <a:rect l="l" t="t" r="r" b="b"/>
            <a:pathLst>
              <a:path w="566976" h="566976">
                <a:moveTo>
                  <a:pt x="0" y="0"/>
                </a:moveTo>
                <a:lnTo>
                  <a:pt x="566976" y="0"/>
                </a:lnTo>
                <a:lnTo>
                  <a:pt x="566976" y="566976"/>
                </a:lnTo>
                <a:lnTo>
                  <a:pt x="0" y="566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307353" y="3652599"/>
            <a:ext cx="5529262" cy="1088708"/>
          </a:xfrm>
          <a:custGeom>
            <a:avLst/>
            <a:gdLst/>
            <a:ahLst/>
            <a:cxnLst/>
            <a:rect l="l" t="t" r="r" b="b"/>
            <a:pathLst>
              <a:path w="5529262" h="1088708">
                <a:moveTo>
                  <a:pt x="0" y="0"/>
                </a:moveTo>
                <a:lnTo>
                  <a:pt x="5529262" y="0"/>
                </a:lnTo>
                <a:lnTo>
                  <a:pt x="5529262" y="1088708"/>
                </a:lnTo>
                <a:lnTo>
                  <a:pt x="0" y="1088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307353" y="3162186"/>
            <a:ext cx="2835231" cy="354330"/>
          </a:xfrm>
          <a:custGeom>
            <a:avLst/>
            <a:gdLst/>
            <a:ahLst/>
            <a:cxnLst/>
            <a:rect l="l" t="t" r="r" b="b"/>
            <a:pathLst>
              <a:path w="2835231" h="354330">
                <a:moveTo>
                  <a:pt x="0" y="0"/>
                </a:moveTo>
                <a:lnTo>
                  <a:pt x="2835230" y="0"/>
                </a:lnTo>
                <a:lnTo>
                  <a:pt x="2835230" y="354330"/>
                </a:lnTo>
                <a:lnTo>
                  <a:pt x="0" y="354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4253" y="5685349"/>
            <a:ext cx="5529139" cy="1088707"/>
          </a:xfrm>
          <a:custGeom>
            <a:avLst/>
            <a:gdLst/>
            <a:ahLst/>
            <a:cxnLst/>
            <a:rect l="l" t="t" r="r" b="b"/>
            <a:pathLst>
              <a:path w="5529139" h="1088707">
                <a:moveTo>
                  <a:pt x="0" y="0"/>
                </a:moveTo>
                <a:lnTo>
                  <a:pt x="5529139" y="0"/>
                </a:lnTo>
                <a:lnTo>
                  <a:pt x="5529139" y="1088707"/>
                </a:lnTo>
                <a:lnTo>
                  <a:pt x="0" y="108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44253" y="5194935"/>
            <a:ext cx="2835231" cy="354330"/>
          </a:xfrm>
          <a:custGeom>
            <a:avLst/>
            <a:gdLst/>
            <a:ahLst/>
            <a:cxnLst/>
            <a:rect l="l" t="t" r="r" b="b"/>
            <a:pathLst>
              <a:path w="2835231" h="354330">
                <a:moveTo>
                  <a:pt x="0" y="0"/>
                </a:moveTo>
                <a:lnTo>
                  <a:pt x="2835231" y="0"/>
                </a:lnTo>
                <a:lnTo>
                  <a:pt x="2835231" y="354330"/>
                </a:lnTo>
                <a:lnTo>
                  <a:pt x="0" y="354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456884" y="5194935"/>
            <a:ext cx="566976" cy="566976"/>
          </a:xfrm>
          <a:custGeom>
            <a:avLst/>
            <a:gdLst/>
            <a:ahLst/>
            <a:cxnLst/>
            <a:rect l="l" t="t" r="r" b="b"/>
            <a:pathLst>
              <a:path w="566976" h="566976">
                <a:moveTo>
                  <a:pt x="0" y="0"/>
                </a:moveTo>
                <a:lnTo>
                  <a:pt x="566976" y="0"/>
                </a:lnTo>
                <a:lnTo>
                  <a:pt x="566976" y="566976"/>
                </a:lnTo>
                <a:lnTo>
                  <a:pt x="0" y="566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793794" y="3162186"/>
            <a:ext cx="566976" cy="566976"/>
            <a:chOff x="0" y="0"/>
            <a:chExt cx="755968" cy="7559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6031" cy="756031"/>
            </a:xfrm>
            <a:custGeom>
              <a:avLst/>
              <a:gdLst/>
              <a:ahLst/>
              <a:cxnLst/>
              <a:rect l="l" t="t" r="r" b="b"/>
              <a:pathLst>
                <a:path w="756031" h="756031">
                  <a:moveTo>
                    <a:pt x="0" y="0"/>
                  </a:moveTo>
                  <a:lnTo>
                    <a:pt x="756031" y="0"/>
                  </a:lnTo>
                  <a:lnTo>
                    <a:pt x="756031" y="756031"/>
                  </a:lnTo>
                  <a:lnTo>
                    <a:pt x="0" y="75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r="8" b="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456884" y="3162186"/>
            <a:ext cx="566976" cy="566976"/>
            <a:chOff x="0" y="0"/>
            <a:chExt cx="755968" cy="7559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55904" cy="756031"/>
            </a:xfrm>
            <a:custGeom>
              <a:avLst/>
              <a:gdLst/>
              <a:ahLst/>
              <a:cxnLst/>
              <a:rect l="l" t="t" r="r" b="b"/>
              <a:pathLst>
                <a:path w="755904" h="756031">
                  <a:moveTo>
                    <a:pt x="0" y="0"/>
                  </a:moveTo>
                  <a:lnTo>
                    <a:pt x="755904" y="0"/>
                  </a:lnTo>
                  <a:lnTo>
                    <a:pt x="755904" y="756031"/>
                  </a:lnTo>
                  <a:lnTo>
                    <a:pt x="0" y="75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r="-8" b="8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793794" y="5194935"/>
            <a:ext cx="566976" cy="566976"/>
            <a:chOff x="0" y="0"/>
            <a:chExt cx="755968" cy="7559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56031" cy="756031"/>
            </a:xfrm>
            <a:custGeom>
              <a:avLst/>
              <a:gdLst/>
              <a:ahLst/>
              <a:cxnLst/>
              <a:rect l="l" t="t" r="r" b="b"/>
              <a:pathLst>
                <a:path w="756031" h="756031">
                  <a:moveTo>
                    <a:pt x="0" y="0"/>
                  </a:moveTo>
                  <a:lnTo>
                    <a:pt x="756031" y="0"/>
                  </a:lnTo>
                  <a:lnTo>
                    <a:pt x="756031" y="756031"/>
                  </a:lnTo>
                  <a:lnTo>
                    <a:pt x="0" y="75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8" b="8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7456884" y="5194935"/>
            <a:ext cx="566976" cy="566976"/>
            <a:chOff x="0" y="0"/>
            <a:chExt cx="755968" cy="7559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55904" cy="756031"/>
            </a:xfrm>
            <a:custGeom>
              <a:avLst/>
              <a:gdLst/>
              <a:ahLst/>
              <a:cxnLst/>
              <a:rect l="l" t="t" r="r" b="b"/>
              <a:pathLst>
                <a:path w="755904" h="756031">
                  <a:moveTo>
                    <a:pt x="0" y="0"/>
                  </a:moveTo>
                  <a:lnTo>
                    <a:pt x="755904" y="0"/>
                  </a:lnTo>
                  <a:lnTo>
                    <a:pt x="755904" y="756031"/>
                  </a:lnTo>
                  <a:lnTo>
                    <a:pt x="0" y="75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8" b="8"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8307353" y="5685349"/>
            <a:ext cx="5529262" cy="1088707"/>
          </a:xfrm>
          <a:custGeom>
            <a:avLst/>
            <a:gdLst/>
            <a:ahLst/>
            <a:cxnLst/>
            <a:rect l="l" t="t" r="r" b="b"/>
            <a:pathLst>
              <a:path w="5529262" h="1088707">
                <a:moveTo>
                  <a:pt x="0" y="0"/>
                </a:moveTo>
                <a:lnTo>
                  <a:pt x="5529262" y="0"/>
                </a:lnTo>
                <a:lnTo>
                  <a:pt x="5529262" y="1088707"/>
                </a:lnTo>
                <a:lnTo>
                  <a:pt x="0" y="108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307353" y="5194935"/>
            <a:ext cx="3110865" cy="354330"/>
          </a:xfrm>
          <a:custGeom>
            <a:avLst/>
            <a:gdLst/>
            <a:ahLst/>
            <a:cxnLst/>
            <a:rect l="l" t="t" r="r" b="b"/>
            <a:pathLst>
              <a:path w="3110865" h="354330">
                <a:moveTo>
                  <a:pt x="0" y="0"/>
                </a:moveTo>
                <a:lnTo>
                  <a:pt x="3110865" y="0"/>
                </a:lnTo>
                <a:lnTo>
                  <a:pt x="3110865" y="354330"/>
                </a:lnTo>
                <a:lnTo>
                  <a:pt x="0" y="354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93794" y="699135"/>
            <a:ext cx="12984480" cy="786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1"/>
              </a:lnSpc>
            </a:pPr>
            <a:r>
              <a:rPr lang="en-US" sz="43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Rehab Model: Beyond Clinical Support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64730" y="2162051"/>
            <a:ext cx="131978" cy="6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4"/>
              </a:lnSpc>
            </a:pPr>
            <a:r>
              <a:rPr lang="en-US" sz="35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7785" y="1826292"/>
            <a:ext cx="6206014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Holistic</a:t>
            </a:r>
            <a:r>
              <a:rPr lang="en-US" sz="3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6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Healing</a:t>
            </a:r>
            <a:r>
              <a:rPr lang="en-US" sz="3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6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Approach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44253" y="3125476"/>
            <a:ext cx="5654678" cy="166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Counseling</a:t>
            </a:r>
          </a:p>
          <a:p>
            <a:pPr algn="l">
              <a:lnSpc>
                <a:spcPts val="3419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Regular individual and collective sessions focusing on mental resilience, emotional regulation, and long-term behavioral change strategies.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44253" y="5091560"/>
            <a:ext cx="2249691" cy="44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Physical Health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80689" y="5542283"/>
            <a:ext cx="60303" cy="40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07353" y="3058801"/>
            <a:ext cx="1908277" cy="44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Eco-Therapy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06682" y="3509524"/>
            <a:ext cx="60303" cy="40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07353" y="5091560"/>
            <a:ext cx="3128601" cy="44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Community Building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44555" y="5542283"/>
            <a:ext cx="60303" cy="40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44253" y="5551808"/>
            <a:ext cx="5699408" cy="124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Structured focus on daily routines, balanced nutrition, and mental wellness for complete recovery and sustainable lifestyle changes.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07353" y="3519049"/>
            <a:ext cx="5381149" cy="38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engagement in gardening and outdoor tasks to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07353" y="3953389"/>
            <a:ext cx="5553799" cy="83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foster responsibility, physical health, and connection with nature.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07353" y="5551808"/>
            <a:ext cx="5470922" cy="813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Interactive sessions with AA and NA volunteers to build lasting support networks and peer connections. 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5486400" cy="8229600"/>
          </a:xfrm>
          <a:custGeom>
            <a:avLst/>
            <a:gdLst/>
            <a:ahLst/>
            <a:cxnLst/>
            <a:rect l="l" t="t" r="r" b="b"/>
            <a:pathLst>
              <a:path w="5486400" h="8229600">
                <a:moveTo>
                  <a:pt x="0" y="0"/>
                </a:moveTo>
                <a:lnTo>
                  <a:pt x="5486400" y="0"/>
                </a:lnTo>
                <a:lnTo>
                  <a:pt x="5486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0"/>
            <a:ext cx="5486400" cy="8229600"/>
            <a:chOff x="0" y="0"/>
            <a:chExt cx="7315200" cy="10972800"/>
          </a:xfrm>
        </p:grpSpPr>
        <p:sp>
          <p:nvSpPr>
            <p:cNvPr id="8" name="Freeform 8"/>
            <p:cNvSpPr/>
            <p:nvPr/>
          </p:nvSpPr>
          <p:spPr>
            <a:xfrm flipH="1">
              <a:off x="0" y="0"/>
              <a:ext cx="7315200" cy="10972800"/>
            </a:xfrm>
            <a:custGeom>
              <a:avLst/>
              <a:gdLst/>
              <a:ahLst/>
              <a:cxnLst/>
              <a:rect l="l" t="t" r="r" b="b"/>
              <a:pathLst>
                <a:path w="7315200" h="10972800">
                  <a:moveTo>
                    <a:pt x="7315200" y="0"/>
                  </a:moveTo>
                  <a:lnTo>
                    <a:pt x="0" y="0"/>
                  </a:lnTo>
                  <a:lnTo>
                    <a:pt x="0" y="10972800"/>
                  </a:lnTo>
                  <a:lnTo>
                    <a:pt x="7315200" y="10972800"/>
                  </a:lnTo>
                  <a:lnTo>
                    <a:pt x="7315200" y="0"/>
                  </a:lnTo>
                  <a:close/>
                </a:path>
              </a:pathLst>
            </a:custGeom>
            <a:blipFill>
              <a:blip r:embed="rId6"/>
              <a:stretch>
                <a:fillRect r="-12500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6280194" y="4171474"/>
            <a:ext cx="7556421" cy="1451610"/>
          </a:xfrm>
          <a:custGeom>
            <a:avLst/>
            <a:gdLst/>
            <a:ahLst/>
            <a:cxnLst/>
            <a:rect l="l" t="t" r="r" b="b"/>
            <a:pathLst>
              <a:path w="7556421" h="1451610">
                <a:moveTo>
                  <a:pt x="0" y="0"/>
                </a:moveTo>
                <a:lnTo>
                  <a:pt x="7556421" y="0"/>
                </a:lnTo>
                <a:lnTo>
                  <a:pt x="7556421" y="1451610"/>
                </a:lnTo>
                <a:lnTo>
                  <a:pt x="0" y="1451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16691" y="2543013"/>
            <a:ext cx="7129186" cy="1351798"/>
          </a:xfrm>
          <a:custGeom>
            <a:avLst/>
            <a:gdLst/>
            <a:ahLst/>
            <a:cxnLst/>
            <a:rect l="l" t="t" r="r" b="b"/>
            <a:pathLst>
              <a:path w="7129186" h="1351798">
                <a:moveTo>
                  <a:pt x="0" y="0"/>
                </a:moveTo>
                <a:lnTo>
                  <a:pt x="7129187" y="0"/>
                </a:lnTo>
                <a:lnTo>
                  <a:pt x="7129187" y="1351798"/>
                </a:lnTo>
                <a:lnTo>
                  <a:pt x="0" y="1351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280194" y="2352399"/>
            <a:ext cx="7795974" cy="686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43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Eco-Therapy in Practice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2160" y="3188627"/>
            <a:ext cx="98517" cy="626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1"/>
              </a:lnSpc>
            </a:pPr>
            <a:r>
              <a:rPr lang="en-US" sz="264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80194" y="3360077"/>
            <a:ext cx="6292806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Holistic</a:t>
            </a:r>
            <a:r>
              <a:rPr lang="en-US" sz="25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5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Healing</a:t>
            </a:r>
            <a:r>
              <a:rPr lang="en-US" sz="25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5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Through</a:t>
            </a:r>
            <a:r>
              <a:rPr lang="en-US" sz="25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5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80194" y="4028399"/>
            <a:ext cx="7704677" cy="171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Residents engage in daily nature-based activities including gardening, outdoor maintenance, and teamwork exercises. These activities foster responsibility, improve physical health, and strengthen community bonds.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30291" y="847687"/>
            <a:ext cx="11129210" cy="1493482"/>
          </a:xfrm>
          <a:custGeom>
            <a:avLst/>
            <a:gdLst/>
            <a:ahLst/>
            <a:cxnLst/>
            <a:rect l="l" t="t" r="r" b="b"/>
            <a:pathLst>
              <a:path w="11129210" h="1493482">
                <a:moveTo>
                  <a:pt x="0" y="0"/>
                </a:moveTo>
                <a:lnTo>
                  <a:pt x="11129210" y="0"/>
                </a:lnTo>
                <a:lnTo>
                  <a:pt x="11129210" y="1493482"/>
                </a:lnTo>
                <a:lnTo>
                  <a:pt x="0" y="14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3794" y="2617822"/>
            <a:ext cx="1134066" cy="1669856"/>
          </a:xfrm>
          <a:custGeom>
            <a:avLst/>
            <a:gdLst/>
            <a:ahLst/>
            <a:cxnLst/>
            <a:rect l="l" t="t" r="r" b="b"/>
            <a:pathLst>
              <a:path w="1134066" h="1669856">
                <a:moveTo>
                  <a:pt x="0" y="0"/>
                </a:moveTo>
                <a:lnTo>
                  <a:pt x="1134066" y="0"/>
                </a:lnTo>
                <a:lnTo>
                  <a:pt x="1134066" y="1669857"/>
                </a:lnTo>
                <a:lnTo>
                  <a:pt x="0" y="1669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93794" y="4287679"/>
            <a:ext cx="1134066" cy="1669856"/>
          </a:xfrm>
          <a:custGeom>
            <a:avLst/>
            <a:gdLst/>
            <a:ahLst/>
            <a:cxnLst/>
            <a:rect l="l" t="t" r="r" b="b"/>
            <a:pathLst>
              <a:path w="1134066" h="1669856">
                <a:moveTo>
                  <a:pt x="0" y="0"/>
                </a:moveTo>
                <a:lnTo>
                  <a:pt x="1134066" y="0"/>
                </a:lnTo>
                <a:lnTo>
                  <a:pt x="1134066" y="1669856"/>
                </a:lnTo>
                <a:lnTo>
                  <a:pt x="0" y="1669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154679" y="3335064"/>
            <a:ext cx="11681936" cy="725805"/>
          </a:xfrm>
          <a:custGeom>
            <a:avLst/>
            <a:gdLst/>
            <a:ahLst/>
            <a:cxnLst/>
            <a:rect l="l" t="t" r="r" b="b"/>
            <a:pathLst>
              <a:path w="11681936" h="725805">
                <a:moveTo>
                  <a:pt x="0" y="0"/>
                </a:moveTo>
                <a:lnTo>
                  <a:pt x="11681936" y="0"/>
                </a:lnTo>
                <a:lnTo>
                  <a:pt x="11681936" y="725805"/>
                </a:lnTo>
                <a:lnTo>
                  <a:pt x="0" y="72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154679" y="2844641"/>
            <a:ext cx="3902631" cy="354330"/>
          </a:xfrm>
          <a:custGeom>
            <a:avLst/>
            <a:gdLst/>
            <a:ahLst/>
            <a:cxnLst/>
            <a:rect l="l" t="t" r="r" b="b"/>
            <a:pathLst>
              <a:path w="3902631" h="354330">
                <a:moveTo>
                  <a:pt x="0" y="0"/>
                </a:moveTo>
                <a:lnTo>
                  <a:pt x="3902630" y="0"/>
                </a:lnTo>
                <a:lnTo>
                  <a:pt x="3902630" y="354330"/>
                </a:lnTo>
                <a:lnTo>
                  <a:pt x="0" y="354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93794" y="5957526"/>
            <a:ext cx="1134066" cy="1360884"/>
          </a:xfrm>
          <a:custGeom>
            <a:avLst/>
            <a:gdLst/>
            <a:ahLst/>
            <a:cxnLst/>
            <a:rect l="l" t="t" r="r" b="b"/>
            <a:pathLst>
              <a:path w="1134066" h="1360884">
                <a:moveTo>
                  <a:pt x="0" y="0"/>
                </a:moveTo>
                <a:lnTo>
                  <a:pt x="1134066" y="0"/>
                </a:lnTo>
                <a:lnTo>
                  <a:pt x="1134066" y="1360884"/>
                </a:lnTo>
                <a:lnTo>
                  <a:pt x="0" y="1360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154679" y="5004911"/>
            <a:ext cx="11681936" cy="725805"/>
          </a:xfrm>
          <a:custGeom>
            <a:avLst/>
            <a:gdLst/>
            <a:ahLst/>
            <a:cxnLst/>
            <a:rect l="l" t="t" r="r" b="b"/>
            <a:pathLst>
              <a:path w="11681936" h="725805">
                <a:moveTo>
                  <a:pt x="0" y="0"/>
                </a:moveTo>
                <a:lnTo>
                  <a:pt x="11681936" y="0"/>
                </a:lnTo>
                <a:lnTo>
                  <a:pt x="11681936" y="725805"/>
                </a:lnTo>
                <a:lnTo>
                  <a:pt x="0" y="72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154679" y="4514498"/>
            <a:ext cx="2982754" cy="354330"/>
          </a:xfrm>
          <a:custGeom>
            <a:avLst/>
            <a:gdLst/>
            <a:ahLst/>
            <a:cxnLst/>
            <a:rect l="l" t="t" r="r" b="b"/>
            <a:pathLst>
              <a:path w="2982754" h="354330">
                <a:moveTo>
                  <a:pt x="0" y="0"/>
                </a:moveTo>
                <a:lnTo>
                  <a:pt x="2982754" y="0"/>
                </a:lnTo>
                <a:lnTo>
                  <a:pt x="2982754" y="354330"/>
                </a:lnTo>
                <a:lnTo>
                  <a:pt x="0" y="354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93794" y="2617822"/>
            <a:ext cx="1134066" cy="4700588"/>
            <a:chOff x="0" y="0"/>
            <a:chExt cx="1512087" cy="62674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2062" cy="6267450"/>
            </a:xfrm>
            <a:custGeom>
              <a:avLst/>
              <a:gdLst/>
              <a:ahLst/>
              <a:cxnLst/>
              <a:rect l="l" t="t" r="r" b="b"/>
              <a:pathLst>
                <a:path w="1512062" h="6267450">
                  <a:moveTo>
                    <a:pt x="0" y="0"/>
                  </a:moveTo>
                  <a:lnTo>
                    <a:pt x="1512062" y="0"/>
                  </a:lnTo>
                  <a:lnTo>
                    <a:pt x="1512062" y="6267450"/>
                  </a:lnTo>
                  <a:lnTo>
                    <a:pt x="0" y="6267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1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2154679" y="6674768"/>
            <a:ext cx="11681936" cy="362903"/>
          </a:xfrm>
          <a:custGeom>
            <a:avLst/>
            <a:gdLst/>
            <a:ahLst/>
            <a:cxnLst/>
            <a:rect l="l" t="t" r="r" b="b"/>
            <a:pathLst>
              <a:path w="11681936" h="362903">
                <a:moveTo>
                  <a:pt x="0" y="0"/>
                </a:moveTo>
                <a:lnTo>
                  <a:pt x="11681936" y="0"/>
                </a:lnTo>
                <a:lnTo>
                  <a:pt x="11681936" y="362902"/>
                </a:lnTo>
                <a:lnTo>
                  <a:pt x="0" y="362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154679" y="6184344"/>
            <a:ext cx="2912507" cy="354330"/>
          </a:xfrm>
          <a:custGeom>
            <a:avLst/>
            <a:gdLst/>
            <a:ahLst/>
            <a:cxnLst/>
            <a:rect l="l" t="t" r="r" b="b"/>
            <a:pathLst>
              <a:path w="2912507" h="354330">
                <a:moveTo>
                  <a:pt x="0" y="0"/>
                </a:moveTo>
                <a:lnTo>
                  <a:pt x="2912507" y="0"/>
                </a:lnTo>
                <a:lnTo>
                  <a:pt x="2912507" y="354330"/>
                </a:lnTo>
                <a:lnTo>
                  <a:pt x="0" y="3543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93794" y="790184"/>
            <a:ext cx="12236406" cy="786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11"/>
              </a:lnSpc>
            </a:pPr>
            <a:r>
              <a:rPr lang="en-US" sz="43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Road Ahead: Quality &amp; Life Skills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05945" y="1617697"/>
            <a:ext cx="131978" cy="6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4"/>
              </a:lnSpc>
            </a:pPr>
            <a:r>
              <a:rPr lang="en-US" sz="35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1819688"/>
            <a:ext cx="481584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Action</a:t>
            </a:r>
            <a:r>
              <a:rPr lang="en-US" sz="25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5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</a:t>
            </a:r>
            <a:r>
              <a:rPr lang="en-US" sz="2599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5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2026–27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54669" y="6080970"/>
            <a:ext cx="2929395" cy="44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Expanded Outreach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00750" y="6531693"/>
            <a:ext cx="60303" cy="40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54669" y="4411113"/>
            <a:ext cx="2999784" cy="44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Wellness Integration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54960" y="4861836"/>
            <a:ext cx="60303" cy="40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54669" y="2711044"/>
            <a:ext cx="3925424" cy="44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Life-Skills Based Programs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90095" y="3191989"/>
            <a:ext cx="60303" cy="40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54669" y="4871361"/>
            <a:ext cx="10996772" cy="38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Daily mindfulness, meditation, and yoga sessions integrated into the core curriculum to promote a healthy,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54669" y="5305701"/>
            <a:ext cx="1884512" cy="39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balanced lifestyle.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54669" y="3201514"/>
            <a:ext cx="11425079" cy="38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Moving from"Sobriety" to"Employability" by equipping residents with vocational training and essential soft skills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54669" y="3635854"/>
            <a:ext cx="2758202" cy="39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for sustainable livelihoods.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154669" y="6636468"/>
            <a:ext cx="11422063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Taking awareness programs beyond schools to private institutions and colleges to broaden community impact.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5486400" cy="8229600"/>
          </a:xfrm>
          <a:custGeom>
            <a:avLst/>
            <a:gdLst/>
            <a:ahLst/>
            <a:cxnLst/>
            <a:rect l="l" t="t" r="r" b="b"/>
            <a:pathLst>
              <a:path w="5486400" h="8229600">
                <a:moveTo>
                  <a:pt x="0" y="0"/>
                </a:moveTo>
                <a:lnTo>
                  <a:pt x="5486400" y="0"/>
                </a:lnTo>
                <a:lnTo>
                  <a:pt x="5486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0"/>
            <a:ext cx="5486400" cy="8229600"/>
            <a:chOff x="0" y="0"/>
            <a:chExt cx="7315200" cy="1097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15200" cy="10972800"/>
            </a:xfrm>
            <a:custGeom>
              <a:avLst/>
              <a:gdLst/>
              <a:ahLst/>
              <a:cxnLst/>
              <a:rect l="l" t="t" r="r" b="b"/>
              <a:pathLst>
                <a:path w="7315200" h="109728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609" t="-14301" r="-153168" b="-774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6280194" y="2378269"/>
            <a:ext cx="30480" cy="1236107"/>
          </a:xfrm>
          <a:custGeom>
            <a:avLst/>
            <a:gdLst/>
            <a:ahLst/>
            <a:cxnLst/>
            <a:rect l="l" t="t" r="r" b="b"/>
            <a:pathLst>
              <a:path w="30480" h="1236107">
                <a:moveTo>
                  <a:pt x="0" y="0"/>
                </a:moveTo>
                <a:lnTo>
                  <a:pt x="30480" y="0"/>
                </a:lnTo>
                <a:lnTo>
                  <a:pt x="30480" y="1236107"/>
                </a:lnTo>
                <a:lnTo>
                  <a:pt x="0" y="1236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16691" y="608133"/>
            <a:ext cx="6022257" cy="1493482"/>
          </a:xfrm>
          <a:custGeom>
            <a:avLst/>
            <a:gdLst/>
            <a:ahLst/>
            <a:cxnLst/>
            <a:rect l="l" t="t" r="r" b="b"/>
            <a:pathLst>
              <a:path w="6022257" h="1493482">
                <a:moveTo>
                  <a:pt x="0" y="0"/>
                </a:moveTo>
                <a:lnTo>
                  <a:pt x="6022258" y="0"/>
                </a:lnTo>
                <a:lnTo>
                  <a:pt x="6022258" y="1493482"/>
                </a:lnTo>
                <a:lnTo>
                  <a:pt x="0" y="14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201451" y="5748423"/>
            <a:ext cx="7713897" cy="1888284"/>
          </a:xfrm>
          <a:custGeom>
            <a:avLst/>
            <a:gdLst/>
            <a:ahLst/>
            <a:cxnLst/>
            <a:rect l="l" t="t" r="r" b="b"/>
            <a:pathLst>
              <a:path w="7713897" h="1888284">
                <a:moveTo>
                  <a:pt x="0" y="0"/>
                </a:moveTo>
                <a:lnTo>
                  <a:pt x="7713898" y="0"/>
                </a:lnTo>
                <a:lnTo>
                  <a:pt x="7713898" y="1888284"/>
                </a:lnTo>
                <a:lnTo>
                  <a:pt x="0" y="1888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201451" y="3790798"/>
            <a:ext cx="7713897" cy="1888284"/>
          </a:xfrm>
          <a:custGeom>
            <a:avLst/>
            <a:gdLst/>
            <a:ahLst/>
            <a:cxnLst/>
            <a:rect l="l" t="t" r="r" b="b"/>
            <a:pathLst>
              <a:path w="7713897" h="1888284">
                <a:moveTo>
                  <a:pt x="0" y="0"/>
                </a:moveTo>
                <a:lnTo>
                  <a:pt x="7713898" y="0"/>
                </a:lnTo>
                <a:lnTo>
                  <a:pt x="7713898" y="1888283"/>
                </a:lnTo>
                <a:lnTo>
                  <a:pt x="0" y="1888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20351" y="2633424"/>
            <a:ext cx="7216254" cy="725805"/>
          </a:xfrm>
          <a:custGeom>
            <a:avLst/>
            <a:gdLst/>
            <a:ahLst/>
            <a:cxnLst/>
            <a:rect l="l" t="t" r="r" b="b"/>
            <a:pathLst>
              <a:path w="7216254" h="725805">
                <a:moveTo>
                  <a:pt x="0" y="0"/>
                </a:moveTo>
                <a:lnTo>
                  <a:pt x="7216255" y="0"/>
                </a:lnTo>
                <a:lnTo>
                  <a:pt x="7216255" y="725805"/>
                </a:lnTo>
                <a:lnTo>
                  <a:pt x="0" y="72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280194" y="550631"/>
            <a:ext cx="5835606" cy="786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11"/>
              </a:lnSpc>
            </a:pPr>
            <a:r>
              <a:rPr lang="en-US" sz="43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Outlook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12101" y="1378144"/>
            <a:ext cx="131978" cy="6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4"/>
              </a:lnSpc>
            </a:pPr>
            <a:r>
              <a:rPr lang="en-US" sz="35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95434" y="1737106"/>
            <a:ext cx="4334193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</a:t>
            </a:r>
            <a:r>
              <a:rPr lang="en-US" sz="2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6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Vision</a:t>
            </a:r>
            <a:r>
              <a:rPr lang="en-US" sz="2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6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</a:t>
            </a:r>
            <a:r>
              <a:rPr lang="en-US" sz="2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6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</a:t>
            </a:r>
            <a:r>
              <a:rPr lang="en-US" sz="26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6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37484" y="4474169"/>
            <a:ext cx="6728765" cy="83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Maintain 100% capacity utilization with uncompromising quality care standards across all programs.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7484" y="6431794"/>
            <a:ext cx="6919636" cy="83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18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Continue scaling awareness programs while enhancing vocational training and community integration services.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20351" y="2490130"/>
            <a:ext cx="7163333" cy="83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1800" i="1">
                <a:solidFill>
                  <a:srgbClr val="45424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"To create a resilient society where every individual has the skills to choose a healthy, substance-free life."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37484" y="4090121"/>
            <a:ext cx="2700655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Operational Goal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37484" y="6047746"/>
            <a:ext cx="309768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Expansion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466" y="1492250"/>
            <a:ext cx="12167459" cy="6273279"/>
            <a:chOff x="0" y="0"/>
            <a:chExt cx="16223279" cy="8364372"/>
          </a:xfrm>
        </p:grpSpPr>
        <p:sp>
          <p:nvSpPr>
            <p:cNvPr id="7" name="Freeform 7"/>
            <p:cNvSpPr/>
            <p:nvPr/>
          </p:nvSpPr>
          <p:spPr>
            <a:xfrm>
              <a:off x="4325074" y="0"/>
              <a:ext cx="7573131" cy="3431575"/>
            </a:xfrm>
            <a:custGeom>
              <a:avLst/>
              <a:gdLst/>
              <a:ahLst/>
              <a:cxnLst/>
              <a:rect l="l" t="t" r="r" b="b"/>
              <a:pathLst>
                <a:path w="7573131" h="3431575">
                  <a:moveTo>
                    <a:pt x="0" y="0"/>
                  </a:moveTo>
                  <a:lnTo>
                    <a:pt x="7573131" y="0"/>
                  </a:lnTo>
                  <a:lnTo>
                    <a:pt x="7573131" y="3431575"/>
                  </a:lnTo>
                  <a:lnTo>
                    <a:pt x="0" y="3431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3868548"/>
              <a:ext cx="5180503" cy="3885377"/>
            </a:xfrm>
            <a:custGeom>
              <a:avLst/>
              <a:gdLst/>
              <a:ahLst/>
              <a:cxnLst/>
              <a:rect l="l" t="t" r="r" b="b"/>
              <a:pathLst>
                <a:path w="5180503" h="3885377">
                  <a:moveTo>
                    <a:pt x="0" y="0"/>
                  </a:moveTo>
                  <a:lnTo>
                    <a:pt x="5180503" y="0"/>
                  </a:lnTo>
                  <a:lnTo>
                    <a:pt x="5180503" y="3885377"/>
                  </a:lnTo>
                  <a:lnTo>
                    <a:pt x="0" y="3885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519372" y="3868548"/>
              <a:ext cx="5180503" cy="3885377"/>
            </a:xfrm>
            <a:custGeom>
              <a:avLst/>
              <a:gdLst/>
              <a:ahLst/>
              <a:cxnLst/>
              <a:rect l="l" t="t" r="r" b="b"/>
              <a:pathLst>
                <a:path w="5180503" h="3885377">
                  <a:moveTo>
                    <a:pt x="0" y="0"/>
                  </a:moveTo>
                  <a:lnTo>
                    <a:pt x="5180503" y="0"/>
                  </a:lnTo>
                  <a:lnTo>
                    <a:pt x="5180503" y="3885377"/>
                  </a:lnTo>
                  <a:lnTo>
                    <a:pt x="0" y="3885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1042775" y="3868548"/>
              <a:ext cx="5180503" cy="3885377"/>
            </a:xfrm>
            <a:custGeom>
              <a:avLst/>
              <a:gdLst/>
              <a:ahLst/>
              <a:cxnLst/>
              <a:rect l="l" t="t" r="r" b="b"/>
              <a:pathLst>
                <a:path w="5180503" h="3885377">
                  <a:moveTo>
                    <a:pt x="0" y="0"/>
                  </a:moveTo>
                  <a:lnTo>
                    <a:pt x="5180504" y="0"/>
                  </a:lnTo>
                  <a:lnTo>
                    <a:pt x="5180504" y="3885377"/>
                  </a:lnTo>
                  <a:lnTo>
                    <a:pt x="0" y="3885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132302"/>
              <a:ext cx="3326615" cy="3426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5C4E3D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Mr Prakash Chandra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76252"/>
              <a:ext cx="4076281" cy="499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099">
                  <a:solidFill>
                    <a:srgbClr val="5C4E3D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IAS additional secretary Uttrakhand government social welfare department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356903"/>
              <a:ext cx="3326615" cy="3426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5C4E3D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Mr Gary Reid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806897"/>
              <a:ext cx="3326615" cy="245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099">
                  <a:solidFill>
                    <a:srgbClr val="5C4E3D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international expert UN official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284955"/>
              <a:ext cx="3326615" cy="3426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5C4E3D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MS . Aayushi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734948"/>
              <a:ext cx="4076281" cy="499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099">
                  <a:solidFill>
                    <a:srgbClr val="5C4E3D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consultant Uttarakhand government social welfare department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1670" y="7865050"/>
              <a:ext cx="3693329" cy="499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9"/>
                </a:lnSpc>
              </a:pPr>
              <a:r>
                <a:rPr lang="en-US" sz="1099" b="1">
                  <a:solidFill>
                    <a:srgbClr val="5C4E3D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Sadhvi Triambakeshwari from Germany visited the centre 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73499" y="7992050"/>
              <a:ext cx="4076281" cy="245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9"/>
                </a:lnSpc>
              </a:pPr>
              <a:r>
                <a:rPr lang="en-US" sz="1099" b="1">
                  <a:solidFill>
                    <a:srgbClr val="5C4E3D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Republic Day Celebration 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121278" y="7865050"/>
              <a:ext cx="3402814" cy="499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9"/>
                </a:lnSpc>
              </a:pPr>
              <a:r>
                <a:rPr lang="en-US" sz="1099" b="1">
                  <a:solidFill>
                    <a:srgbClr val="5C4E3D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Visit for Health check up- doctors of AIIMS Rishikesh 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263953" y="597394"/>
            <a:ext cx="2102485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Gallery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4630400" cy="8229600"/>
            <a:chOff x="0" y="0"/>
            <a:chExt cx="19507200" cy="109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07200" cy="10972800"/>
            </a:xfrm>
            <a:custGeom>
              <a:avLst/>
              <a:gdLst/>
              <a:ahLst/>
              <a:cxnLst/>
              <a:rect l="l" t="t" r="r" b="b"/>
              <a:pathLst>
                <a:path w="19507200" h="109728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3503" y="-63503"/>
            <a:ext cx="14757397" cy="8356597"/>
          </a:xfrm>
          <a:custGeom>
            <a:avLst/>
            <a:gdLst/>
            <a:ahLst/>
            <a:cxnLst/>
            <a:rect l="l" t="t" r="r" b="b"/>
            <a:pathLst>
              <a:path w="14757397" h="8356597">
                <a:moveTo>
                  <a:pt x="0" y="0"/>
                </a:moveTo>
                <a:lnTo>
                  <a:pt x="14757397" y="0"/>
                </a:lnTo>
                <a:lnTo>
                  <a:pt x="14757397" y="8356597"/>
                </a:lnTo>
                <a:lnTo>
                  <a:pt x="0" y="83565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V="1">
            <a:off x="152399" y="6704693"/>
            <a:ext cx="7940039" cy="60924"/>
          </a:xfrm>
          <a:custGeom>
            <a:avLst/>
            <a:gdLst/>
            <a:ahLst/>
            <a:cxnLst/>
            <a:rect l="l" t="t" r="r" b="b"/>
            <a:pathLst>
              <a:path w="8525475" h="30366">
                <a:moveTo>
                  <a:pt x="0" y="0"/>
                </a:moveTo>
                <a:lnTo>
                  <a:pt x="8525475" y="0"/>
                </a:lnTo>
                <a:lnTo>
                  <a:pt x="8525475" y="30366"/>
                </a:lnTo>
                <a:lnTo>
                  <a:pt x="0" y="303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7461" y="5463188"/>
            <a:ext cx="8525475" cy="262652"/>
          </a:xfrm>
          <a:custGeom>
            <a:avLst/>
            <a:gdLst/>
            <a:ahLst/>
            <a:cxnLst/>
            <a:rect l="l" t="t" r="r" b="b"/>
            <a:pathLst>
              <a:path w="8525475" h="262652">
                <a:moveTo>
                  <a:pt x="0" y="0"/>
                </a:moveTo>
                <a:lnTo>
                  <a:pt x="8525475" y="0"/>
                </a:lnTo>
                <a:lnTo>
                  <a:pt x="8525475" y="262651"/>
                </a:lnTo>
                <a:lnTo>
                  <a:pt x="0" y="262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37461" y="500777"/>
            <a:ext cx="4553426" cy="569119"/>
          </a:xfrm>
          <a:custGeom>
            <a:avLst/>
            <a:gdLst/>
            <a:ahLst/>
            <a:cxnLst/>
            <a:rect l="l" t="t" r="r" b="b"/>
            <a:pathLst>
              <a:path w="4553426" h="569119">
                <a:moveTo>
                  <a:pt x="0" y="0"/>
                </a:moveTo>
                <a:lnTo>
                  <a:pt x="4553426" y="0"/>
                </a:lnTo>
                <a:lnTo>
                  <a:pt x="4553426" y="569119"/>
                </a:lnTo>
                <a:lnTo>
                  <a:pt x="0" y="569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7461" y="3043476"/>
            <a:ext cx="3970020" cy="341471"/>
          </a:xfrm>
          <a:custGeom>
            <a:avLst/>
            <a:gdLst/>
            <a:ahLst/>
            <a:cxnLst/>
            <a:rect l="l" t="t" r="r" b="b"/>
            <a:pathLst>
              <a:path w="3970020" h="341471">
                <a:moveTo>
                  <a:pt x="0" y="0"/>
                </a:moveTo>
                <a:lnTo>
                  <a:pt x="3970020" y="0"/>
                </a:lnTo>
                <a:lnTo>
                  <a:pt x="3970020" y="341471"/>
                </a:lnTo>
                <a:lnTo>
                  <a:pt x="0" y="341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384491" y="4287163"/>
            <a:ext cx="2619493" cy="1938425"/>
          </a:xfrm>
          <a:custGeom>
            <a:avLst/>
            <a:gdLst/>
            <a:ahLst/>
            <a:cxnLst/>
            <a:rect l="l" t="t" r="r" b="b"/>
            <a:pathLst>
              <a:path w="2619493" h="1938425">
                <a:moveTo>
                  <a:pt x="0" y="0"/>
                </a:moveTo>
                <a:lnTo>
                  <a:pt x="2619493" y="0"/>
                </a:lnTo>
                <a:lnTo>
                  <a:pt x="2619493" y="1938426"/>
                </a:lnTo>
                <a:lnTo>
                  <a:pt x="0" y="19384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22960" y="1335960"/>
            <a:ext cx="8244840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Vision for the Future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7015" y="4506492"/>
            <a:ext cx="8335921" cy="126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240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Phone:</a:t>
            </a:r>
            <a:r>
              <a:rPr lang="en-US" sz="24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+91 9625777399  </a:t>
            </a:r>
            <a:r>
              <a:rPr lang="en-US" sz="240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Email:</a:t>
            </a:r>
            <a:r>
              <a:rPr lang="en-US" sz="24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  <a:hlinkClick r:id="rId10" tooltip="mailto:dc-dehradun@spym.org"/>
              </a:rPr>
              <a:t> </a:t>
            </a:r>
            <a:r>
              <a:rPr lang="en-US" sz="2400">
                <a:solidFill>
                  <a:srgbClr val="0563C1"/>
                </a:solidFill>
                <a:latin typeface="DM Sans"/>
                <a:ea typeface="DM Sans"/>
                <a:cs typeface="DM Sans"/>
                <a:sym typeface="DM Sans"/>
                <a:hlinkClick r:id="rId10" tooltip="mailto:dc-dehradun@spym.org"/>
              </a:rPr>
              <a:t>dc-dehradun@spym.org </a:t>
            </a:r>
            <a:r>
              <a:rPr lang="en-US" sz="240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Partners:</a:t>
            </a:r>
            <a:r>
              <a:rPr lang="en-US" sz="24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Department of Social Welfare, Uttarakhand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2960" y="7159704"/>
            <a:ext cx="12562338" cy="266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2800" i="1" dirty="0">
                <a:solidFill>
                  <a:srgbClr val="45424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Together, we're building a drug-free Uttarakhand—</a:t>
            </a:r>
            <a:r>
              <a:rPr lang="en-US" sz="2800" b="1" i="1" dirty="0">
                <a:solidFill>
                  <a:srgbClr val="45424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One day at a time.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960" y="2267077"/>
            <a:ext cx="12664440" cy="1457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6"/>
              </a:lnSpc>
            </a:pPr>
            <a:r>
              <a:rPr lang="en-US" sz="3200" i="1" dirty="0">
                <a:solidFill>
                  <a:srgbClr val="5C4E3D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"To create a resilient society where every individual has the skills to choose a healthy, substance-free life."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5002" y="3876675"/>
            <a:ext cx="9589490" cy="59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2400" b="1" spc="120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Visit Us: </a:t>
            </a:r>
            <a:r>
              <a:rPr lang="en-US" sz="2400" spc="12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Rajkiya Nasha Mukti Kendra Raiwala, Dehradun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7015" y="6082460"/>
            <a:ext cx="8697985" cy="306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 dirty="0">
                <a:solidFill>
                  <a:srgbClr val="45424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SYPM - Annual Progress Report 2025-26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3BCAF908-AC4F-053C-76E3-F764BDC4E957}"/>
              </a:ext>
            </a:extLst>
          </p:cNvPr>
          <p:cNvSpPr/>
          <p:nvPr/>
        </p:nvSpPr>
        <p:spPr>
          <a:xfrm>
            <a:off x="9474526" y="1069896"/>
            <a:ext cx="2567255" cy="1096109"/>
          </a:xfrm>
          <a:custGeom>
            <a:avLst/>
            <a:gdLst/>
            <a:ahLst/>
            <a:cxnLst/>
            <a:rect l="l" t="t" r="r" b="b"/>
            <a:pathLst>
              <a:path w="2567255" h="1096109">
                <a:moveTo>
                  <a:pt x="0" y="0"/>
                </a:moveTo>
                <a:lnTo>
                  <a:pt x="2567255" y="0"/>
                </a:lnTo>
                <a:lnTo>
                  <a:pt x="2567255" y="1096109"/>
                </a:lnTo>
                <a:lnTo>
                  <a:pt x="0" y="10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8193" t="-56964" r="-321356" b="-673199"/>
            </a:stretch>
          </a:blipFill>
        </p:spPr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CBED91B-4ADC-7BDF-B098-7DE3B958389A}"/>
              </a:ext>
            </a:extLst>
          </p:cNvPr>
          <p:cNvSpPr/>
          <p:nvPr/>
        </p:nvSpPr>
        <p:spPr>
          <a:xfrm>
            <a:off x="12270557" y="1069896"/>
            <a:ext cx="1114741" cy="1096109"/>
          </a:xfrm>
          <a:custGeom>
            <a:avLst/>
            <a:gdLst/>
            <a:ahLst/>
            <a:cxnLst/>
            <a:rect l="l" t="t" r="r" b="b"/>
            <a:pathLst>
              <a:path w="1114741" h="1096109">
                <a:moveTo>
                  <a:pt x="0" y="0"/>
                </a:moveTo>
                <a:lnTo>
                  <a:pt x="1114741" y="0"/>
                </a:lnTo>
                <a:lnTo>
                  <a:pt x="1114741" y="1096109"/>
                </a:lnTo>
                <a:lnTo>
                  <a:pt x="0" y="10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83123" t="-60527" r="-99193" b="-707324"/>
            </a:stretch>
          </a:blip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661</Words>
  <Application>Microsoft Office PowerPoint</Application>
  <PresentationFormat>Custom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Libre Baskerville Italics</vt:lpstr>
      <vt:lpstr>DM Sans Italics</vt:lpstr>
      <vt:lpstr>Calibri</vt:lpstr>
      <vt:lpstr>Libre Baskerville</vt:lpstr>
      <vt:lpstr>Libre Baskerville Bold</vt:lpstr>
      <vt:lpstr>DM Sans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Rajkiya Nasha Mukti Kendra.pdf</dc:title>
  <cp:lastModifiedBy>Sarkar Niharika</cp:lastModifiedBy>
  <cp:revision>6</cp:revision>
  <dcterms:created xsi:type="dcterms:W3CDTF">2006-08-16T00:00:00Z</dcterms:created>
  <dcterms:modified xsi:type="dcterms:W3CDTF">2026-03-27T10:43:28Z</dcterms:modified>
  <dc:identifier>DAHFIIB-Fd8</dc:identifier>
</cp:coreProperties>
</file>