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nter" panose="020B0502030000000004" pitchFamily="34" charset="0"/>
      <p:regular r:id="rId9"/>
      <p:bold r:id="rId10"/>
      <p:italic r:id="rId11"/>
      <p:boldItalic r:id="rId12"/>
    </p:embeddedFont>
    <p:embeddedFont>
      <p:font typeface="Inter Bold" panose="020B0604020202020204" charset="0"/>
      <p:regular r:id="rId13"/>
    </p:embeddedFont>
    <p:embeddedFont>
      <p:font typeface="Inter Medium" panose="020B0602030000000004" pitchFamily="34" charset="0"/>
      <p:regular r:id="rId14"/>
      <p:italic r:id="rId15"/>
    </p:embeddedFont>
    <p:embeddedFont>
      <p:font typeface="Inter Medium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8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1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3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svg"/><Relationship Id="rId18" Type="http://schemas.openxmlformats.org/officeDocument/2006/relationships/image" Target="../media/image32.sv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image" Target="../media/image1.svg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5.svg"/><Relationship Id="rId5" Type="http://schemas.openxmlformats.org/officeDocument/2006/relationships/image" Target="../media/image20.svg"/><Relationship Id="rId15" Type="http://schemas.openxmlformats.org/officeDocument/2006/relationships/image" Target="../media/image29.svg"/><Relationship Id="rId10" Type="http://schemas.openxmlformats.org/officeDocument/2006/relationships/image" Target="../media/image18.svg"/><Relationship Id="rId19" Type="http://schemas.openxmlformats.org/officeDocument/2006/relationships/image" Target="../media/image33.png"/><Relationship Id="rId4" Type="http://schemas.openxmlformats.org/officeDocument/2006/relationships/image" Target="../media/image10.png"/><Relationship Id="rId9" Type="http://schemas.openxmlformats.org/officeDocument/2006/relationships/image" Target="../media/image24.svg"/><Relationship Id="rId14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3.svg"/><Relationship Id="rId3" Type="http://schemas.openxmlformats.org/officeDocument/2006/relationships/image" Target="../media/image2.svg"/><Relationship Id="rId7" Type="http://schemas.openxmlformats.org/officeDocument/2006/relationships/image" Target="../media/image39.svg"/><Relationship Id="rId12" Type="http://schemas.openxmlformats.org/officeDocument/2006/relationships/image" Target="../media/image4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1.svg"/><Relationship Id="rId5" Type="http://schemas.openxmlformats.org/officeDocument/2006/relationships/image" Target="../media/image37.png"/><Relationship Id="rId15" Type="http://schemas.openxmlformats.org/officeDocument/2006/relationships/image" Target="../media/image45.svg"/><Relationship Id="rId10" Type="http://schemas.openxmlformats.org/officeDocument/2006/relationships/image" Target="../media/image8.svg"/><Relationship Id="rId4" Type="http://schemas.openxmlformats.org/officeDocument/2006/relationships/image" Target="../media/image10.png"/><Relationship Id="rId9" Type="http://schemas.openxmlformats.org/officeDocument/2006/relationships/image" Target="../media/image5.svg"/><Relationship Id="rId14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2.svg"/><Relationship Id="rId7" Type="http://schemas.openxmlformats.org/officeDocument/2006/relationships/image" Target="../media/image4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975070" y="2659110"/>
            <a:ext cx="12468480" cy="1811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Transform Legacy Applications into Intelligent Enterprise Solutions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75070" y="4667190"/>
            <a:ext cx="1246848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Modernize enterprise software through AI-driven analysis, intelligent automation, </a:t>
            </a:r>
          </a:p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enterprise governance and secure cloud-ready delivery.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5487" y="7633671"/>
            <a:ext cx="1417702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From Legacy Complexity to Intelligent Modernization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09760" y="8344589"/>
            <a:ext cx="1246848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Powered by AIForge™ AI-Driven Intelligent Modernization Platform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816663" y="5840477"/>
            <a:ext cx="10785296" cy="1520974"/>
            <a:chOff x="0" y="0"/>
            <a:chExt cx="14380395" cy="2027965"/>
          </a:xfrm>
        </p:grpSpPr>
        <p:sp>
          <p:nvSpPr>
            <p:cNvPr id="14" name="Freeform 14"/>
            <p:cNvSpPr/>
            <p:nvPr/>
          </p:nvSpPr>
          <p:spPr>
            <a:xfrm>
              <a:off x="4004022" y="223809"/>
              <a:ext cx="401265" cy="401265"/>
            </a:xfrm>
            <a:custGeom>
              <a:avLst/>
              <a:gdLst/>
              <a:ahLst/>
              <a:cxnLst/>
              <a:rect l="l" t="t" r="r" b="b"/>
              <a:pathLst>
                <a:path w="401265" h="401265">
                  <a:moveTo>
                    <a:pt x="0" y="0"/>
                  </a:moveTo>
                  <a:lnTo>
                    <a:pt x="401264" y="0"/>
                  </a:lnTo>
                  <a:lnTo>
                    <a:pt x="401264" y="401265"/>
                  </a:lnTo>
                  <a:lnTo>
                    <a:pt x="0" y="401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4096236" y="316024"/>
              <a:ext cx="216835" cy="216835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8740" tIns="8740" rIns="8740" bIns="874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4134718" y="351591"/>
              <a:ext cx="139872" cy="145700"/>
            </a:xfrm>
            <a:custGeom>
              <a:avLst/>
              <a:gdLst/>
              <a:ahLst/>
              <a:cxnLst/>
              <a:rect l="l" t="t" r="r" b="b"/>
              <a:pathLst>
                <a:path w="139872" h="145700">
                  <a:moveTo>
                    <a:pt x="0" y="0"/>
                  </a:moveTo>
                  <a:lnTo>
                    <a:pt x="139872" y="0"/>
                  </a:lnTo>
                  <a:lnTo>
                    <a:pt x="139872" y="145700"/>
                  </a:lnTo>
                  <a:lnTo>
                    <a:pt x="0" y="14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4468786" y="229285"/>
              <a:ext cx="2271760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Enterprise Ready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3640789" y="0"/>
              <a:ext cx="3462989" cy="848883"/>
              <a:chOff x="0" y="0"/>
              <a:chExt cx="822390" cy="20159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22390" cy="201593"/>
              </a:xfrm>
              <a:custGeom>
                <a:avLst/>
                <a:gdLst/>
                <a:ahLst/>
                <a:cxnLst/>
                <a:rect l="l" t="t" r="r" b="b"/>
                <a:pathLst>
                  <a:path w="822390" h="201593">
                    <a:moveTo>
                      <a:pt x="100796" y="0"/>
                    </a:moveTo>
                    <a:lnTo>
                      <a:pt x="721594" y="0"/>
                    </a:lnTo>
                    <a:cubicBezTo>
                      <a:pt x="777262" y="0"/>
                      <a:pt x="822390" y="45128"/>
                      <a:pt x="822390" y="100796"/>
                    </a:cubicBezTo>
                    <a:lnTo>
                      <a:pt x="822390" y="100796"/>
                    </a:lnTo>
                    <a:cubicBezTo>
                      <a:pt x="822390" y="156465"/>
                      <a:pt x="777262" y="201593"/>
                      <a:pt x="721594" y="201593"/>
                    </a:cubicBezTo>
                    <a:lnTo>
                      <a:pt x="100796" y="201593"/>
                    </a:lnTo>
                    <a:cubicBezTo>
                      <a:pt x="45128" y="201593"/>
                      <a:pt x="0" y="156465"/>
                      <a:pt x="0" y="100796"/>
                    </a:cubicBezTo>
                    <a:lnTo>
                      <a:pt x="0" y="100796"/>
                    </a:lnTo>
                    <a:cubicBezTo>
                      <a:pt x="0" y="45128"/>
                      <a:pt x="45128" y="0"/>
                      <a:pt x="100796" y="0"/>
                    </a:cubicBezTo>
                    <a:close/>
                  </a:path>
                </a:pathLst>
              </a:custGeom>
              <a:ln w="19050" cap="rnd">
                <a:solidFill>
                  <a:srgbClr val="0E59BF"/>
                </a:solidFill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822390" cy="23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276616" y="0"/>
              <a:ext cx="3462989" cy="848883"/>
              <a:chOff x="0" y="0"/>
              <a:chExt cx="822390" cy="20159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22390" cy="201593"/>
              </a:xfrm>
              <a:custGeom>
                <a:avLst/>
                <a:gdLst/>
                <a:ahLst/>
                <a:cxnLst/>
                <a:rect l="l" t="t" r="r" b="b"/>
                <a:pathLst>
                  <a:path w="822390" h="201593">
                    <a:moveTo>
                      <a:pt x="100796" y="0"/>
                    </a:moveTo>
                    <a:lnTo>
                      <a:pt x="721594" y="0"/>
                    </a:lnTo>
                    <a:cubicBezTo>
                      <a:pt x="777262" y="0"/>
                      <a:pt x="822390" y="45128"/>
                      <a:pt x="822390" y="100796"/>
                    </a:cubicBezTo>
                    <a:lnTo>
                      <a:pt x="822390" y="100796"/>
                    </a:lnTo>
                    <a:cubicBezTo>
                      <a:pt x="822390" y="156465"/>
                      <a:pt x="777262" y="201593"/>
                      <a:pt x="721594" y="201593"/>
                    </a:cubicBezTo>
                    <a:lnTo>
                      <a:pt x="100796" y="201593"/>
                    </a:lnTo>
                    <a:cubicBezTo>
                      <a:pt x="45128" y="201593"/>
                      <a:pt x="0" y="156465"/>
                      <a:pt x="0" y="100796"/>
                    </a:cubicBezTo>
                    <a:lnTo>
                      <a:pt x="0" y="100796"/>
                    </a:lnTo>
                    <a:cubicBezTo>
                      <a:pt x="0" y="45128"/>
                      <a:pt x="45128" y="0"/>
                      <a:pt x="100796" y="0"/>
                    </a:cubicBezTo>
                    <a:close/>
                  </a:path>
                </a:pathLst>
              </a:custGeom>
              <a:ln w="19050" cap="rnd">
                <a:solidFill>
                  <a:srgbClr val="0E59BF"/>
                </a:solidFill>
                <a:prstDash val="solid"/>
                <a:round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22390" cy="23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103276" y="229285"/>
              <a:ext cx="2319734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Human Governed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593212" y="256980"/>
              <a:ext cx="446564" cy="334923"/>
            </a:xfrm>
            <a:custGeom>
              <a:avLst/>
              <a:gdLst/>
              <a:ahLst/>
              <a:cxnLst/>
              <a:rect l="l" t="t" r="r" b="b"/>
              <a:pathLst>
                <a:path w="446564" h="334923">
                  <a:moveTo>
                    <a:pt x="0" y="0"/>
                  </a:moveTo>
                  <a:lnTo>
                    <a:pt x="446564" y="0"/>
                  </a:lnTo>
                  <a:lnTo>
                    <a:pt x="446564" y="334923"/>
                  </a:lnTo>
                  <a:lnTo>
                    <a:pt x="0" y="3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8" name="Group 28"/>
            <p:cNvGrpSpPr/>
            <p:nvPr/>
          </p:nvGrpSpPr>
          <p:grpSpPr>
            <a:xfrm>
              <a:off x="10917406" y="0"/>
              <a:ext cx="3462989" cy="848883"/>
              <a:chOff x="0" y="0"/>
              <a:chExt cx="822390" cy="20159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22390" cy="201593"/>
              </a:xfrm>
              <a:custGeom>
                <a:avLst/>
                <a:gdLst/>
                <a:ahLst/>
                <a:cxnLst/>
                <a:rect l="l" t="t" r="r" b="b"/>
                <a:pathLst>
                  <a:path w="822390" h="201593">
                    <a:moveTo>
                      <a:pt x="100796" y="0"/>
                    </a:moveTo>
                    <a:lnTo>
                      <a:pt x="721594" y="0"/>
                    </a:lnTo>
                    <a:cubicBezTo>
                      <a:pt x="777262" y="0"/>
                      <a:pt x="822390" y="45128"/>
                      <a:pt x="822390" y="100796"/>
                    </a:cubicBezTo>
                    <a:lnTo>
                      <a:pt x="822390" y="100796"/>
                    </a:lnTo>
                    <a:cubicBezTo>
                      <a:pt x="822390" y="156465"/>
                      <a:pt x="777262" y="201593"/>
                      <a:pt x="721594" y="201593"/>
                    </a:cubicBezTo>
                    <a:lnTo>
                      <a:pt x="100796" y="201593"/>
                    </a:lnTo>
                    <a:cubicBezTo>
                      <a:pt x="45128" y="201593"/>
                      <a:pt x="0" y="156465"/>
                      <a:pt x="0" y="100796"/>
                    </a:cubicBezTo>
                    <a:lnTo>
                      <a:pt x="0" y="100796"/>
                    </a:lnTo>
                    <a:cubicBezTo>
                      <a:pt x="0" y="45128"/>
                      <a:pt x="45128" y="0"/>
                      <a:pt x="100796" y="0"/>
                    </a:cubicBezTo>
                    <a:close/>
                  </a:path>
                </a:pathLst>
              </a:custGeom>
              <a:ln w="19050" cap="rnd">
                <a:solidFill>
                  <a:srgbClr val="0E59BF"/>
                </a:solidFill>
                <a:prstDash val="solid"/>
                <a:round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22390" cy="23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2008992" y="229285"/>
              <a:ext cx="1801246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Cloud Native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1487563" y="299403"/>
              <a:ext cx="446564" cy="250076"/>
            </a:xfrm>
            <a:custGeom>
              <a:avLst/>
              <a:gdLst/>
              <a:ahLst/>
              <a:cxnLst/>
              <a:rect l="l" t="t" r="r" b="b"/>
              <a:pathLst>
                <a:path w="446564" h="250076">
                  <a:moveTo>
                    <a:pt x="0" y="0"/>
                  </a:moveTo>
                  <a:lnTo>
                    <a:pt x="446564" y="0"/>
                  </a:lnTo>
                  <a:lnTo>
                    <a:pt x="446564" y="250076"/>
                  </a:lnTo>
                  <a:lnTo>
                    <a:pt x="0" y="250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735572" y="223809"/>
              <a:ext cx="383208" cy="401265"/>
            </a:xfrm>
            <a:custGeom>
              <a:avLst/>
              <a:gdLst/>
              <a:ahLst/>
              <a:cxnLst/>
              <a:rect l="l" t="t" r="r" b="b"/>
              <a:pathLst>
                <a:path w="383208" h="401265">
                  <a:moveTo>
                    <a:pt x="0" y="0"/>
                  </a:moveTo>
                  <a:lnTo>
                    <a:pt x="383208" y="0"/>
                  </a:lnTo>
                  <a:lnTo>
                    <a:pt x="383208" y="401265"/>
                  </a:lnTo>
                  <a:lnTo>
                    <a:pt x="0" y="401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175040" y="229285"/>
              <a:ext cx="1552377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Powered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0" y="0"/>
              <a:ext cx="3462989" cy="848883"/>
              <a:chOff x="0" y="0"/>
              <a:chExt cx="822390" cy="20159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22390" cy="201593"/>
              </a:xfrm>
              <a:custGeom>
                <a:avLst/>
                <a:gdLst/>
                <a:ahLst/>
                <a:cxnLst/>
                <a:rect l="l" t="t" r="r" b="b"/>
                <a:pathLst>
                  <a:path w="822390" h="201593">
                    <a:moveTo>
                      <a:pt x="100796" y="0"/>
                    </a:moveTo>
                    <a:lnTo>
                      <a:pt x="721594" y="0"/>
                    </a:lnTo>
                    <a:cubicBezTo>
                      <a:pt x="777262" y="0"/>
                      <a:pt x="822390" y="45128"/>
                      <a:pt x="822390" y="100796"/>
                    </a:cubicBezTo>
                    <a:lnTo>
                      <a:pt x="822390" y="100796"/>
                    </a:lnTo>
                    <a:cubicBezTo>
                      <a:pt x="822390" y="156465"/>
                      <a:pt x="777262" y="201593"/>
                      <a:pt x="721594" y="201593"/>
                    </a:cubicBezTo>
                    <a:lnTo>
                      <a:pt x="100796" y="201593"/>
                    </a:lnTo>
                    <a:cubicBezTo>
                      <a:pt x="45128" y="201593"/>
                      <a:pt x="0" y="156465"/>
                      <a:pt x="0" y="100796"/>
                    </a:cubicBezTo>
                    <a:lnTo>
                      <a:pt x="0" y="100796"/>
                    </a:lnTo>
                    <a:cubicBezTo>
                      <a:pt x="0" y="45128"/>
                      <a:pt x="45128" y="0"/>
                      <a:pt x="100796" y="0"/>
                    </a:cubicBezTo>
                    <a:close/>
                  </a:path>
                </a:pathLst>
              </a:custGeom>
              <a:ln w="19050" cap="rnd">
                <a:solidFill>
                  <a:srgbClr val="0E59BF"/>
                </a:solidFill>
                <a:prstDash val="solid"/>
                <a:round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822390" cy="23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640789" y="1179083"/>
              <a:ext cx="3462989" cy="848883"/>
              <a:chOff x="0" y="0"/>
              <a:chExt cx="822390" cy="20159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22390" cy="201593"/>
              </a:xfrm>
              <a:custGeom>
                <a:avLst/>
                <a:gdLst/>
                <a:ahLst/>
                <a:cxnLst/>
                <a:rect l="l" t="t" r="r" b="b"/>
                <a:pathLst>
                  <a:path w="822390" h="201593">
                    <a:moveTo>
                      <a:pt x="100796" y="0"/>
                    </a:moveTo>
                    <a:lnTo>
                      <a:pt x="721594" y="0"/>
                    </a:lnTo>
                    <a:cubicBezTo>
                      <a:pt x="777262" y="0"/>
                      <a:pt x="822390" y="45128"/>
                      <a:pt x="822390" y="100796"/>
                    </a:cubicBezTo>
                    <a:lnTo>
                      <a:pt x="822390" y="100796"/>
                    </a:lnTo>
                    <a:cubicBezTo>
                      <a:pt x="822390" y="156465"/>
                      <a:pt x="777262" y="201593"/>
                      <a:pt x="721594" y="201593"/>
                    </a:cubicBezTo>
                    <a:lnTo>
                      <a:pt x="100796" y="201593"/>
                    </a:lnTo>
                    <a:cubicBezTo>
                      <a:pt x="45128" y="201593"/>
                      <a:pt x="0" y="156465"/>
                      <a:pt x="0" y="100796"/>
                    </a:cubicBezTo>
                    <a:lnTo>
                      <a:pt x="0" y="100796"/>
                    </a:lnTo>
                    <a:cubicBezTo>
                      <a:pt x="0" y="45128"/>
                      <a:pt x="45128" y="0"/>
                      <a:pt x="100796" y="0"/>
                    </a:cubicBezTo>
                    <a:close/>
                  </a:path>
                </a:pathLst>
              </a:custGeom>
              <a:ln w="19050" cap="rnd">
                <a:solidFill>
                  <a:srgbClr val="0E59BF"/>
                </a:solidFill>
                <a:prstDash val="solid"/>
                <a:round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822390" cy="23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033773" y="1408367"/>
              <a:ext cx="1014603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Secure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4656554" y="1402891"/>
              <a:ext cx="310980" cy="401265"/>
            </a:xfrm>
            <a:custGeom>
              <a:avLst/>
              <a:gdLst/>
              <a:ahLst/>
              <a:cxnLst/>
              <a:rect l="l" t="t" r="r" b="b"/>
              <a:pathLst>
                <a:path w="310980" h="401265">
                  <a:moveTo>
                    <a:pt x="0" y="0"/>
                  </a:moveTo>
                  <a:lnTo>
                    <a:pt x="310980" y="0"/>
                  </a:lnTo>
                  <a:lnTo>
                    <a:pt x="310980" y="401265"/>
                  </a:lnTo>
                  <a:lnTo>
                    <a:pt x="0" y="401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3" name="Group 43"/>
            <p:cNvGrpSpPr/>
            <p:nvPr/>
          </p:nvGrpSpPr>
          <p:grpSpPr>
            <a:xfrm>
              <a:off x="7276616" y="1179083"/>
              <a:ext cx="3462989" cy="848883"/>
              <a:chOff x="0" y="0"/>
              <a:chExt cx="822390" cy="20159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22390" cy="201593"/>
              </a:xfrm>
              <a:custGeom>
                <a:avLst/>
                <a:gdLst/>
                <a:ahLst/>
                <a:cxnLst/>
                <a:rect l="l" t="t" r="r" b="b"/>
                <a:pathLst>
                  <a:path w="822390" h="201593">
                    <a:moveTo>
                      <a:pt x="100796" y="0"/>
                    </a:moveTo>
                    <a:lnTo>
                      <a:pt x="721594" y="0"/>
                    </a:lnTo>
                    <a:cubicBezTo>
                      <a:pt x="777262" y="0"/>
                      <a:pt x="822390" y="45128"/>
                      <a:pt x="822390" y="100796"/>
                    </a:cubicBezTo>
                    <a:lnTo>
                      <a:pt x="822390" y="100796"/>
                    </a:lnTo>
                    <a:cubicBezTo>
                      <a:pt x="822390" y="156465"/>
                      <a:pt x="777262" y="201593"/>
                      <a:pt x="721594" y="201593"/>
                    </a:cubicBezTo>
                    <a:lnTo>
                      <a:pt x="100796" y="201593"/>
                    </a:lnTo>
                    <a:cubicBezTo>
                      <a:pt x="45128" y="201593"/>
                      <a:pt x="0" y="156465"/>
                      <a:pt x="0" y="100796"/>
                    </a:cubicBezTo>
                    <a:lnTo>
                      <a:pt x="0" y="100796"/>
                    </a:lnTo>
                    <a:cubicBezTo>
                      <a:pt x="0" y="45128"/>
                      <a:pt x="45128" y="0"/>
                      <a:pt x="100796" y="0"/>
                    </a:cubicBezTo>
                    <a:close/>
                  </a:path>
                </a:pathLst>
              </a:custGeom>
              <a:ln w="19050" cap="rnd">
                <a:solidFill>
                  <a:srgbClr val="0E59BF"/>
                </a:solidFill>
                <a:prstDash val="solid"/>
                <a:round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822390" cy="2396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7893294" y="1424679"/>
              <a:ext cx="357689" cy="357689"/>
            </a:xfrm>
            <a:custGeom>
              <a:avLst/>
              <a:gdLst/>
              <a:ahLst/>
              <a:cxnLst/>
              <a:rect l="l" t="t" r="r" b="b"/>
              <a:pathLst>
                <a:path w="357689" h="357689">
                  <a:moveTo>
                    <a:pt x="0" y="0"/>
                  </a:moveTo>
                  <a:lnTo>
                    <a:pt x="357689" y="0"/>
                  </a:lnTo>
                  <a:lnTo>
                    <a:pt x="357689" y="357689"/>
                  </a:lnTo>
                  <a:lnTo>
                    <a:pt x="0" y="357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8314483" y="1408367"/>
              <a:ext cx="1808445" cy="352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Future Ready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1186005" y="1028700"/>
            <a:ext cx="3231177" cy="1524433"/>
          </a:xfrm>
          <a:custGeom>
            <a:avLst/>
            <a:gdLst/>
            <a:ahLst/>
            <a:cxnLst/>
            <a:rect l="l" t="t" r="r" b="b"/>
            <a:pathLst>
              <a:path w="3231177" h="1524433">
                <a:moveTo>
                  <a:pt x="0" y="0"/>
                </a:moveTo>
                <a:lnTo>
                  <a:pt x="3231177" y="0"/>
                </a:lnTo>
                <a:lnTo>
                  <a:pt x="3231177" y="1524433"/>
                </a:lnTo>
                <a:lnTo>
                  <a:pt x="0" y="15244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3836" t="-57970" r="-36884" b="-69139"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4886791" y="1210527"/>
            <a:ext cx="190991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772241" y="1302427"/>
            <a:ext cx="32975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TM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186996" y="1806018"/>
            <a:ext cx="690034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AI-Driven Intelligent Modernization Platform</a:t>
            </a:r>
          </a:p>
        </p:txBody>
      </p:sp>
      <p:sp>
        <p:nvSpPr>
          <p:cNvPr id="52" name="AutoShape 52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TextBox 53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31694" y="1028700"/>
            <a:ext cx="16070301" cy="824943"/>
            <a:chOff x="0" y="0"/>
            <a:chExt cx="21427068" cy="10999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53995" cy="1099924"/>
            </a:xfrm>
            <a:custGeom>
              <a:avLst/>
              <a:gdLst/>
              <a:ahLst/>
              <a:cxnLst/>
              <a:rect l="l" t="t" r="r" b="b"/>
              <a:pathLst>
                <a:path w="2353995" h="1099924">
                  <a:moveTo>
                    <a:pt x="0" y="0"/>
                  </a:moveTo>
                  <a:lnTo>
                    <a:pt x="2353995" y="0"/>
                  </a:lnTo>
                  <a:lnTo>
                    <a:pt x="2353995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27" t="-57970" r="-36050" b="-6913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9562859" y="258133"/>
              <a:ext cx="1658347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140748" y="331640"/>
              <a:ext cx="286320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22877" y="763368"/>
              <a:ext cx="5991464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 dirty="0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94806" y="4296577"/>
            <a:ext cx="80903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COBOL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4199094"/>
            <a:ext cx="1341250" cy="464206"/>
            <a:chOff x="0" y="0"/>
            <a:chExt cx="554409" cy="1918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4409" cy="191881"/>
            </a:xfrm>
            <a:custGeom>
              <a:avLst/>
              <a:gdLst/>
              <a:ahLst/>
              <a:cxnLst/>
              <a:rect l="l" t="t" r="r" b="b"/>
              <a:pathLst>
                <a:path w="554409" h="191881">
                  <a:moveTo>
                    <a:pt x="95940" y="0"/>
                  </a:moveTo>
                  <a:lnTo>
                    <a:pt x="458469" y="0"/>
                  </a:lnTo>
                  <a:cubicBezTo>
                    <a:pt x="511455" y="0"/>
                    <a:pt x="554409" y="42954"/>
                    <a:pt x="554409" y="95940"/>
                  </a:cubicBezTo>
                  <a:lnTo>
                    <a:pt x="554409" y="95940"/>
                  </a:lnTo>
                  <a:cubicBezTo>
                    <a:pt x="554409" y="148927"/>
                    <a:pt x="511455" y="191881"/>
                    <a:pt x="458469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554409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31694" y="2075607"/>
            <a:ext cx="12656796" cy="1511516"/>
            <a:chOff x="0" y="0"/>
            <a:chExt cx="16875728" cy="201535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5250"/>
              <a:ext cx="16875728" cy="1062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1" dirty="0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Legacy Enterprise Challenges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057774"/>
              <a:ext cx="12144524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4D4D4D"/>
                  </a:solidFill>
                  <a:latin typeface="Inter"/>
                  <a:ea typeface="Inter"/>
                  <a:cs typeface="Inter"/>
                  <a:sym typeface="Inter"/>
                </a:rPr>
                <a:t>Disconnected legacy applications increase technical debt, security risks and operational complexity, slowing enterprise innovation.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015726" y="4540428"/>
            <a:ext cx="80903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.NET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617" y="4972523"/>
            <a:ext cx="141244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PowerBuilder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27905" y="4875039"/>
            <a:ext cx="1705864" cy="464206"/>
            <a:chOff x="0" y="0"/>
            <a:chExt cx="705123" cy="1918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5123" cy="191881"/>
            </a:xfrm>
            <a:custGeom>
              <a:avLst/>
              <a:gdLst/>
              <a:ahLst/>
              <a:cxnLst/>
              <a:rect l="l" t="t" r="r" b="b"/>
              <a:pathLst>
                <a:path w="705123" h="191881">
                  <a:moveTo>
                    <a:pt x="95940" y="0"/>
                  </a:moveTo>
                  <a:lnTo>
                    <a:pt x="609182" y="0"/>
                  </a:lnTo>
                  <a:cubicBezTo>
                    <a:pt x="634627" y="0"/>
                    <a:pt x="659030" y="10108"/>
                    <a:pt x="677022" y="28100"/>
                  </a:cubicBezTo>
                  <a:cubicBezTo>
                    <a:pt x="695015" y="46093"/>
                    <a:pt x="705123" y="70495"/>
                    <a:pt x="705123" y="95940"/>
                  </a:cubicBezTo>
                  <a:lnTo>
                    <a:pt x="705123" y="95940"/>
                  </a:lnTo>
                  <a:cubicBezTo>
                    <a:pt x="705123" y="148927"/>
                    <a:pt x="662169" y="191881"/>
                    <a:pt x="609182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705123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0385" y="5548796"/>
            <a:ext cx="965811" cy="464206"/>
            <a:chOff x="0" y="0"/>
            <a:chExt cx="399220" cy="19188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220" cy="191881"/>
            </a:xfrm>
            <a:custGeom>
              <a:avLst/>
              <a:gdLst/>
              <a:ahLst/>
              <a:cxnLst/>
              <a:rect l="l" t="t" r="r" b="b"/>
              <a:pathLst>
                <a:path w="399220" h="191881">
                  <a:moveTo>
                    <a:pt x="95940" y="0"/>
                  </a:moveTo>
                  <a:lnTo>
                    <a:pt x="303280" y="0"/>
                  </a:lnTo>
                  <a:cubicBezTo>
                    <a:pt x="328725" y="0"/>
                    <a:pt x="353128" y="10108"/>
                    <a:pt x="371120" y="28100"/>
                  </a:cubicBezTo>
                  <a:cubicBezTo>
                    <a:pt x="389112" y="46093"/>
                    <a:pt x="399220" y="70495"/>
                    <a:pt x="399220" y="95940"/>
                  </a:cubicBezTo>
                  <a:lnTo>
                    <a:pt x="399220" y="95940"/>
                  </a:lnTo>
                  <a:cubicBezTo>
                    <a:pt x="399220" y="148927"/>
                    <a:pt x="356266" y="191881"/>
                    <a:pt x="303280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399220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02437" y="5650724"/>
            <a:ext cx="80170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Java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0238" y="8060241"/>
            <a:ext cx="148556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Oracle Forms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28700" y="7962758"/>
            <a:ext cx="1828638" cy="464206"/>
            <a:chOff x="0" y="0"/>
            <a:chExt cx="755872" cy="19188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5872" cy="191881"/>
            </a:xfrm>
            <a:custGeom>
              <a:avLst/>
              <a:gdLst/>
              <a:ahLst/>
              <a:cxnLst/>
              <a:rect l="l" t="t" r="r" b="b"/>
              <a:pathLst>
                <a:path w="755872" h="191881">
                  <a:moveTo>
                    <a:pt x="95940" y="0"/>
                  </a:moveTo>
                  <a:lnTo>
                    <a:pt x="659931" y="0"/>
                  </a:lnTo>
                  <a:cubicBezTo>
                    <a:pt x="712918" y="0"/>
                    <a:pt x="755872" y="42954"/>
                    <a:pt x="755872" y="95940"/>
                  </a:cubicBezTo>
                  <a:lnTo>
                    <a:pt x="755872" y="95940"/>
                  </a:lnTo>
                  <a:cubicBezTo>
                    <a:pt x="755872" y="148927"/>
                    <a:pt x="712918" y="191881"/>
                    <a:pt x="659931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755872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353706" y="5424202"/>
            <a:ext cx="111333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ColdFusion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049403" y="5326719"/>
            <a:ext cx="1642967" cy="464206"/>
            <a:chOff x="0" y="0"/>
            <a:chExt cx="679124" cy="19188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9124" cy="191881"/>
            </a:xfrm>
            <a:custGeom>
              <a:avLst/>
              <a:gdLst/>
              <a:ahLst/>
              <a:cxnLst/>
              <a:rect l="l" t="t" r="r" b="b"/>
              <a:pathLst>
                <a:path w="679124" h="191881">
                  <a:moveTo>
                    <a:pt x="95940" y="0"/>
                  </a:moveTo>
                  <a:lnTo>
                    <a:pt x="583184" y="0"/>
                  </a:lnTo>
                  <a:cubicBezTo>
                    <a:pt x="636170" y="0"/>
                    <a:pt x="679124" y="42954"/>
                    <a:pt x="679124" y="95940"/>
                  </a:cubicBezTo>
                  <a:lnTo>
                    <a:pt x="679124" y="95940"/>
                  </a:lnTo>
                  <a:cubicBezTo>
                    <a:pt x="679124" y="148927"/>
                    <a:pt x="636170" y="191881"/>
                    <a:pt x="583184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679124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798507" y="7327563"/>
            <a:ext cx="111333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Mainframe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566344" y="7230079"/>
            <a:ext cx="1577656" cy="464206"/>
            <a:chOff x="0" y="0"/>
            <a:chExt cx="652128" cy="19188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52128" cy="191881"/>
            </a:xfrm>
            <a:custGeom>
              <a:avLst/>
              <a:gdLst/>
              <a:ahLst/>
              <a:cxnLst/>
              <a:rect l="l" t="t" r="r" b="b"/>
              <a:pathLst>
                <a:path w="652128" h="191881">
                  <a:moveTo>
                    <a:pt x="95940" y="0"/>
                  </a:moveTo>
                  <a:lnTo>
                    <a:pt x="556187" y="0"/>
                  </a:lnTo>
                  <a:cubicBezTo>
                    <a:pt x="609174" y="0"/>
                    <a:pt x="652128" y="42954"/>
                    <a:pt x="652128" y="95940"/>
                  </a:cubicBezTo>
                  <a:lnTo>
                    <a:pt x="652128" y="95940"/>
                  </a:lnTo>
                  <a:cubicBezTo>
                    <a:pt x="652128" y="148927"/>
                    <a:pt x="609174" y="191881"/>
                    <a:pt x="556187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652128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78860" y="4504577"/>
            <a:ext cx="2429237" cy="2229999"/>
            <a:chOff x="0" y="0"/>
            <a:chExt cx="546711" cy="50187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6711" cy="501871"/>
            </a:xfrm>
            <a:custGeom>
              <a:avLst/>
              <a:gdLst/>
              <a:ahLst/>
              <a:cxnLst/>
              <a:rect l="l" t="t" r="r" b="b"/>
              <a:pathLst>
                <a:path w="546711" h="501871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39626"/>
                  </a:lnTo>
                  <a:cubicBezTo>
                    <a:pt x="546711" y="474003"/>
                    <a:pt x="518842" y="501871"/>
                    <a:pt x="484465" y="501871"/>
                  </a:cubicBezTo>
                  <a:lnTo>
                    <a:pt x="62246" y="501871"/>
                  </a:lnTo>
                  <a:cubicBezTo>
                    <a:pt x="27868" y="501871"/>
                    <a:pt x="0" y="474003"/>
                    <a:pt x="0" y="439626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5F23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46711" cy="539971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78860" y="4587966"/>
            <a:ext cx="2429237" cy="2146610"/>
            <a:chOff x="0" y="0"/>
            <a:chExt cx="546711" cy="48310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46711" cy="483104"/>
            </a:xfrm>
            <a:custGeom>
              <a:avLst/>
              <a:gdLst/>
              <a:ahLst/>
              <a:cxnLst/>
              <a:rect l="l" t="t" r="r" b="b"/>
              <a:pathLst>
                <a:path w="546711" h="483104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20859"/>
                  </a:lnTo>
                  <a:cubicBezTo>
                    <a:pt x="546711" y="455236"/>
                    <a:pt x="518842" y="483104"/>
                    <a:pt x="484465" y="483104"/>
                  </a:cubicBezTo>
                  <a:lnTo>
                    <a:pt x="62246" y="483104"/>
                  </a:lnTo>
                  <a:cubicBezTo>
                    <a:pt x="27868" y="483104"/>
                    <a:pt x="0" y="455236"/>
                    <a:pt x="0" y="420859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46711" cy="521204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10329707" y="4925166"/>
            <a:ext cx="511499" cy="511499"/>
          </a:xfrm>
          <a:custGeom>
            <a:avLst/>
            <a:gdLst/>
            <a:ahLst/>
            <a:cxnLst/>
            <a:rect l="l" t="t" r="r" b="b"/>
            <a:pathLst>
              <a:path w="511499" h="511499">
                <a:moveTo>
                  <a:pt x="0" y="0"/>
                </a:moveTo>
                <a:lnTo>
                  <a:pt x="511499" y="0"/>
                </a:lnTo>
                <a:lnTo>
                  <a:pt x="511499" y="511499"/>
                </a:lnTo>
                <a:lnTo>
                  <a:pt x="0" y="511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12025555" y="4504577"/>
            <a:ext cx="2429237" cy="2229999"/>
            <a:chOff x="0" y="0"/>
            <a:chExt cx="546711" cy="50187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46711" cy="501871"/>
            </a:xfrm>
            <a:custGeom>
              <a:avLst/>
              <a:gdLst/>
              <a:ahLst/>
              <a:cxnLst/>
              <a:rect l="l" t="t" r="r" b="b"/>
              <a:pathLst>
                <a:path w="546711" h="501871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39626"/>
                  </a:lnTo>
                  <a:cubicBezTo>
                    <a:pt x="546711" y="474003"/>
                    <a:pt x="518842" y="501871"/>
                    <a:pt x="484465" y="501871"/>
                  </a:cubicBezTo>
                  <a:lnTo>
                    <a:pt x="62246" y="501871"/>
                  </a:lnTo>
                  <a:cubicBezTo>
                    <a:pt x="27868" y="501871"/>
                    <a:pt x="0" y="474003"/>
                    <a:pt x="0" y="439626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546711" cy="539971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3" name="Freeform 53"/>
          <p:cNvSpPr/>
          <p:nvPr/>
        </p:nvSpPr>
        <p:spPr>
          <a:xfrm>
            <a:off x="12995933" y="4925166"/>
            <a:ext cx="488482" cy="511499"/>
          </a:xfrm>
          <a:custGeom>
            <a:avLst/>
            <a:gdLst/>
            <a:ahLst/>
            <a:cxnLst/>
            <a:rect l="l" t="t" r="r" b="b"/>
            <a:pathLst>
              <a:path w="488482" h="511499">
                <a:moveTo>
                  <a:pt x="0" y="0"/>
                </a:moveTo>
                <a:lnTo>
                  <a:pt x="488482" y="0"/>
                </a:lnTo>
                <a:lnTo>
                  <a:pt x="488482" y="511499"/>
                </a:lnTo>
                <a:lnTo>
                  <a:pt x="0" y="511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4" name="Group 54"/>
          <p:cNvGrpSpPr/>
          <p:nvPr/>
        </p:nvGrpSpPr>
        <p:grpSpPr>
          <a:xfrm>
            <a:off x="14672504" y="4504577"/>
            <a:ext cx="2429237" cy="2229999"/>
            <a:chOff x="0" y="0"/>
            <a:chExt cx="546711" cy="50187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46711" cy="501871"/>
            </a:xfrm>
            <a:custGeom>
              <a:avLst/>
              <a:gdLst/>
              <a:ahLst/>
              <a:cxnLst/>
              <a:rect l="l" t="t" r="r" b="b"/>
              <a:pathLst>
                <a:path w="546711" h="501871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39626"/>
                  </a:lnTo>
                  <a:cubicBezTo>
                    <a:pt x="546711" y="474003"/>
                    <a:pt x="518842" y="501871"/>
                    <a:pt x="484465" y="501871"/>
                  </a:cubicBezTo>
                  <a:lnTo>
                    <a:pt x="62246" y="501871"/>
                  </a:lnTo>
                  <a:cubicBezTo>
                    <a:pt x="27868" y="501871"/>
                    <a:pt x="0" y="474003"/>
                    <a:pt x="0" y="439626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546711" cy="539971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15692753" y="4925166"/>
            <a:ext cx="388739" cy="511499"/>
          </a:xfrm>
          <a:custGeom>
            <a:avLst/>
            <a:gdLst/>
            <a:ahLst/>
            <a:cxnLst/>
            <a:rect l="l" t="t" r="r" b="b"/>
            <a:pathLst>
              <a:path w="388739" h="511499">
                <a:moveTo>
                  <a:pt x="0" y="0"/>
                </a:moveTo>
                <a:lnTo>
                  <a:pt x="388740" y="0"/>
                </a:lnTo>
                <a:lnTo>
                  <a:pt x="388740" y="511499"/>
                </a:lnTo>
                <a:lnTo>
                  <a:pt x="0" y="511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8" name="Group 58"/>
          <p:cNvGrpSpPr/>
          <p:nvPr/>
        </p:nvGrpSpPr>
        <p:grpSpPr>
          <a:xfrm>
            <a:off x="9378860" y="6912229"/>
            <a:ext cx="2429237" cy="2229999"/>
            <a:chOff x="0" y="0"/>
            <a:chExt cx="546711" cy="50187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46711" cy="501871"/>
            </a:xfrm>
            <a:custGeom>
              <a:avLst/>
              <a:gdLst/>
              <a:ahLst/>
              <a:cxnLst/>
              <a:rect l="l" t="t" r="r" b="b"/>
              <a:pathLst>
                <a:path w="546711" h="501871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39626"/>
                  </a:lnTo>
                  <a:cubicBezTo>
                    <a:pt x="546711" y="474003"/>
                    <a:pt x="518842" y="501871"/>
                    <a:pt x="484465" y="501871"/>
                  </a:cubicBezTo>
                  <a:lnTo>
                    <a:pt x="62246" y="501871"/>
                  </a:lnTo>
                  <a:cubicBezTo>
                    <a:pt x="27868" y="501871"/>
                    <a:pt x="0" y="474003"/>
                    <a:pt x="0" y="439626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46711" cy="539971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1" name="Freeform 61"/>
          <p:cNvSpPr/>
          <p:nvPr/>
        </p:nvSpPr>
        <p:spPr>
          <a:xfrm>
            <a:off x="10335987" y="7336302"/>
            <a:ext cx="511499" cy="511499"/>
          </a:xfrm>
          <a:custGeom>
            <a:avLst/>
            <a:gdLst/>
            <a:ahLst/>
            <a:cxnLst/>
            <a:rect l="l" t="t" r="r" b="b"/>
            <a:pathLst>
              <a:path w="511499" h="511499">
                <a:moveTo>
                  <a:pt x="0" y="0"/>
                </a:moveTo>
                <a:lnTo>
                  <a:pt x="511499" y="0"/>
                </a:lnTo>
                <a:lnTo>
                  <a:pt x="511499" y="511499"/>
                </a:lnTo>
                <a:lnTo>
                  <a:pt x="0" y="511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2" name="Group 62"/>
          <p:cNvGrpSpPr/>
          <p:nvPr/>
        </p:nvGrpSpPr>
        <p:grpSpPr>
          <a:xfrm>
            <a:off x="12025809" y="6908745"/>
            <a:ext cx="2429237" cy="2229999"/>
            <a:chOff x="0" y="0"/>
            <a:chExt cx="546711" cy="50187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6711" cy="501871"/>
            </a:xfrm>
            <a:custGeom>
              <a:avLst/>
              <a:gdLst/>
              <a:ahLst/>
              <a:cxnLst/>
              <a:rect l="l" t="t" r="r" b="b"/>
              <a:pathLst>
                <a:path w="546711" h="501871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39626"/>
                  </a:lnTo>
                  <a:cubicBezTo>
                    <a:pt x="546711" y="474003"/>
                    <a:pt x="518842" y="501871"/>
                    <a:pt x="484465" y="501871"/>
                  </a:cubicBezTo>
                  <a:lnTo>
                    <a:pt x="62246" y="501871"/>
                  </a:lnTo>
                  <a:cubicBezTo>
                    <a:pt x="27868" y="501871"/>
                    <a:pt x="0" y="474003"/>
                    <a:pt x="0" y="439626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5F23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546711" cy="539971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025809" y="6992134"/>
            <a:ext cx="2429237" cy="2146610"/>
            <a:chOff x="0" y="0"/>
            <a:chExt cx="546711" cy="48310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6711" cy="483104"/>
            </a:xfrm>
            <a:custGeom>
              <a:avLst/>
              <a:gdLst/>
              <a:ahLst/>
              <a:cxnLst/>
              <a:rect l="l" t="t" r="r" b="b"/>
              <a:pathLst>
                <a:path w="546711" h="483104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20859"/>
                  </a:lnTo>
                  <a:cubicBezTo>
                    <a:pt x="546711" y="455236"/>
                    <a:pt x="518842" y="483104"/>
                    <a:pt x="484465" y="483104"/>
                  </a:cubicBezTo>
                  <a:lnTo>
                    <a:pt x="62246" y="483104"/>
                  </a:lnTo>
                  <a:cubicBezTo>
                    <a:pt x="27868" y="483104"/>
                    <a:pt x="0" y="455236"/>
                    <a:pt x="0" y="420859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46711" cy="521204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8" name="Freeform 68"/>
          <p:cNvSpPr/>
          <p:nvPr/>
        </p:nvSpPr>
        <p:spPr>
          <a:xfrm>
            <a:off x="12899428" y="7336302"/>
            <a:ext cx="681999" cy="511499"/>
          </a:xfrm>
          <a:custGeom>
            <a:avLst/>
            <a:gdLst/>
            <a:ahLst/>
            <a:cxnLst/>
            <a:rect l="l" t="t" r="r" b="b"/>
            <a:pathLst>
              <a:path w="681999" h="511499">
                <a:moveTo>
                  <a:pt x="0" y="0"/>
                </a:moveTo>
                <a:lnTo>
                  <a:pt x="681999" y="0"/>
                </a:lnTo>
                <a:lnTo>
                  <a:pt x="681999" y="511499"/>
                </a:lnTo>
                <a:lnTo>
                  <a:pt x="0" y="511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9" name="Group 69"/>
          <p:cNvGrpSpPr/>
          <p:nvPr/>
        </p:nvGrpSpPr>
        <p:grpSpPr>
          <a:xfrm>
            <a:off x="14672757" y="6908745"/>
            <a:ext cx="2429237" cy="2229999"/>
            <a:chOff x="0" y="0"/>
            <a:chExt cx="546711" cy="50187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46711" cy="501871"/>
            </a:xfrm>
            <a:custGeom>
              <a:avLst/>
              <a:gdLst/>
              <a:ahLst/>
              <a:cxnLst/>
              <a:rect l="l" t="t" r="r" b="b"/>
              <a:pathLst>
                <a:path w="546711" h="501871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39626"/>
                  </a:lnTo>
                  <a:cubicBezTo>
                    <a:pt x="546711" y="474003"/>
                    <a:pt x="518842" y="501871"/>
                    <a:pt x="484465" y="501871"/>
                  </a:cubicBezTo>
                  <a:lnTo>
                    <a:pt x="62246" y="501871"/>
                  </a:lnTo>
                  <a:cubicBezTo>
                    <a:pt x="27868" y="501871"/>
                    <a:pt x="0" y="474003"/>
                    <a:pt x="0" y="439626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5F23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546711" cy="539971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4672757" y="6992134"/>
            <a:ext cx="2429237" cy="2146610"/>
            <a:chOff x="0" y="0"/>
            <a:chExt cx="546711" cy="48310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46711" cy="483104"/>
            </a:xfrm>
            <a:custGeom>
              <a:avLst/>
              <a:gdLst/>
              <a:ahLst/>
              <a:cxnLst/>
              <a:rect l="l" t="t" r="r" b="b"/>
              <a:pathLst>
                <a:path w="546711" h="483104">
                  <a:moveTo>
                    <a:pt x="62246" y="0"/>
                  </a:moveTo>
                  <a:lnTo>
                    <a:pt x="484465" y="0"/>
                  </a:lnTo>
                  <a:cubicBezTo>
                    <a:pt x="518842" y="0"/>
                    <a:pt x="546711" y="27868"/>
                    <a:pt x="546711" y="62246"/>
                  </a:cubicBezTo>
                  <a:lnTo>
                    <a:pt x="546711" y="420859"/>
                  </a:lnTo>
                  <a:cubicBezTo>
                    <a:pt x="546711" y="455236"/>
                    <a:pt x="518842" y="483104"/>
                    <a:pt x="484465" y="483104"/>
                  </a:cubicBezTo>
                  <a:lnTo>
                    <a:pt x="62246" y="483104"/>
                  </a:lnTo>
                  <a:cubicBezTo>
                    <a:pt x="27868" y="483104"/>
                    <a:pt x="0" y="455236"/>
                    <a:pt x="0" y="420859"/>
                  </a:cubicBezTo>
                  <a:lnTo>
                    <a:pt x="0" y="62246"/>
                  </a:lnTo>
                  <a:cubicBezTo>
                    <a:pt x="0" y="27868"/>
                    <a:pt x="27868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546711" cy="521204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5" name="Freeform 75"/>
          <p:cNvSpPr/>
          <p:nvPr/>
        </p:nvSpPr>
        <p:spPr>
          <a:xfrm>
            <a:off x="15643697" y="7249198"/>
            <a:ext cx="487358" cy="518466"/>
          </a:xfrm>
          <a:custGeom>
            <a:avLst/>
            <a:gdLst/>
            <a:ahLst/>
            <a:cxnLst/>
            <a:rect l="l" t="t" r="r" b="b"/>
            <a:pathLst>
              <a:path w="487358" h="518466">
                <a:moveTo>
                  <a:pt x="0" y="0"/>
                </a:moveTo>
                <a:lnTo>
                  <a:pt x="487358" y="0"/>
                </a:lnTo>
                <a:lnTo>
                  <a:pt x="487358" y="518466"/>
                </a:lnTo>
                <a:lnTo>
                  <a:pt x="0" y="518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6" name="TextBox 76"/>
          <p:cNvSpPr txBox="1"/>
          <p:nvPr/>
        </p:nvSpPr>
        <p:spPr>
          <a:xfrm>
            <a:off x="9647143" y="5591002"/>
            <a:ext cx="189267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Technical Debt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647143" y="5931634"/>
            <a:ext cx="1892671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Years of accumulated complexity.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312769" y="5591002"/>
            <a:ext cx="189267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Retiring SMEs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293839" y="5927507"/>
            <a:ext cx="1930531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Critical knowledge leaving the workforce.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672504" y="5625618"/>
            <a:ext cx="2429237" cy="19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Limited Documentation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4844053" y="5927507"/>
            <a:ext cx="208614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Application knowledge is fragmented.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378860" y="8033270"/>
            <a:ext cx="2429237" cy="19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Slow Delivery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550409" y="8335159"/>
            <a:ext cx="208614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Long release cycles reduce agility.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080129" y="8002137"/>
            <a:ext cx="232059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 High Modernization Cost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326267" y="8338642"/>
            <a:ext cx="18283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Requires significant investment.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941041" y="7995170"/>
            <a:ext cx="189267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 Security Risks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753012" y="8342769"/>
            <a:ext cx="2268727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Legacy platforms increase operational risk.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6937340" y="4435960"/>
            <a:ext cx="965811" cy="464206"/>
            <a:chOff x="0" y="0"/>
            <a:chExt cx="399220" cy="191881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99220" cy="191881"/>
            </a:xfrm>
            <a:custGeom>
              <a:avLst/>
              <a:gdLst/>
              <a:ahLst/>
              <a:cxnLst/>
              <a:rect l="l" t="t" r="r" b="b"/>
              <a:pathLst>
                <a:path w="399220" h="191881">
                  <a:moveTo>
                    <a:pt x="95940" y="0"/>
                  </a:moveTo>
                  <a:lnTo>
                    <a:pt x="303280" y="0"/>
                  </a:lnTo>
                  <a:cubicBezTo>
                    <a:pt x="328725" y="0"/>
                    <a:pt x="353128" y="10108"/>
                    <a:pt x="371120" y="28100"/>
                  </a:cubicBezTo>
                  <a:cubicBezTo>
                    <a:pt x="389112" y="46093"/>
                    <a:pt x="399220" y="70495"/>
                    <a:pt x="399220" y="95940"/>
                  </a:cubicBezTo>
                  <a:lnTo>
                    <a:pt x="399220" y="95940"/>
                  </a:lnTo>
                  <a:cubicBezTo>
                    <a:pt x="399220" y="148927"/>
                    <a:pt x="356266" y="191881"/>
                    <a:pt x="303280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0" y="-28575"/>
              <a:ext cx="399220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7145168" y="8060241"/>
            <a:ext cx="550155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E59BF"/>
                </a:solidFill>
                <a:latin typeface="Inter"/>
                <a:ea typeface="Inter"/>
                <a:cs typeface="Inter"/>
                <a:sym typeface="Inter"/>
              </a:rPr>
              <a:t>C++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6937340" y="7962758"/>
            <a:ext cx="965811" cy="464206"/>
            <a:chOff x="0" y="0"/>
            <a:chExt cx="399220" cy="19188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99220" cy="191881"/>
            </a:xfrm>
            <a:custGeom>
              <a:avLst/>
              <a:gdLst/>
              <a:ahLst/>
              <a:cxnLst/>
              <a:rect l="l" t="t" r="r" b="b"/>
              <a:pathLst>
                <a:path w="399220" h="191881">
                  <a:moveTo>
                    <a:pt x="95940" y="0"/>
                  </a:moveTo>
                  <a:lnTo>
                    <a:pt x="303280" y="0"/>
                  </a:lnTo>
                  <a:cubicBezTo>
                    <a:pt x="328725" y="0"/>
                    <a:pt x="353128" y="10108"/>
                    <a:pt x="371120" y="28100"/>
                  </a:cubicBezTo>
                  <a:cubicBezTo>
                    <a:pt x="389112" y="46093"/>
                    <a:pt x="399220" y="70495"/>
                    <a:pt x="399220" y="95940"/>
                  </a:cubicBezTo>
                  <a:lnTo>
                    <a:pt x="399220" y="95940"/>
                  </a:lnTo>
                  <a:cubicBezTo>
                    <a:pt x="399220" y="148927"/>
                    <a:pt x="356266" y="191881"/>
                    <a:pt x="303280" y="191881"/>
                  </a:cubicBezTo>
                  <a:lnTo>
                    <a:pt x="95940" y="191881"/>
                  </a:lnTo>
                  <a:cubicBezTo>
                    <a:pt x="42954" y="191881"/>
                    <a:pt x="0" y="148927"/>
                    <a:pt x="0" y="95940"/>
                  </a:cubicBezTo>
                  <a:lnTo>
                    <a:pt x="0" y="95940"/>
                  </a:lnTo>
                  <a:cubicBezTo>
                    <a:pt x="0" y="42954"/>
                    <a:pt x="42954" y="0"/>
                    <a:pt x="95940" y="0"/>
                  </a:cubicBezTo>
                  <a:close/>
                </a:path>
              </a:pathLst>
            </a:custGeom>
            <a:ln w="19050" cap="rnd">
              <a:solidFill>
                <a:srgbClr val="0E59BF"/>
              </a:solidFill>
              <a:prstDash val="solid"/>
              <a:round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28575"/>
              <a:ext cx="399220" cy="22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1077638" y="2075607"/>
            <a:ext cx="6024357" cy="2229999"/>
            <a:chOff x="0" y="0"/>
            <a:chExt cx="1355808" cy="501871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355808" cy="501871"/>
            </a:xfrm>
            <a:custGeom>
              <a:avLst/>
              <a:gdLst/>
              <a:ahLst/>
              <a:cxnLst/>
              <a:rect l="l" t="t" r="r" b="b"/>
              <a:pathLst>
                <a:path w="1355808" h="501871">
                  <a:moveTo>
                    <a:pt x="25100" y="0"/>
                  </a:moveTo>
                  <a:lnTo>
                    <a:pt x="1330709" y="0"/>
                  </a:lnTo>
                  <a:cubicBezTo>
                    <a:pt x="1344571" y="0"/>
                    <a:pt x="1355808" y="11238"/>
                    <a:pt x="1355808" y="25100"/>
                  </a:cubicBezTo>
                  <a:lnTo>
                    <a:pt x="1355808" y="476772"/>
                  </a:lnTo>
                  <a:cubicBezTo>
                    <a:pt x="1355808" y="490634"/>
                    <a:pt x="1344571" y="501871"/>
                    <a:pt x="1330709" y="501871"/>
                  </a:cubicBezTo>
                  <a:lnTo>
                    <a:pt x="25100" y="501871"/>
                  </a:lnTo>
                  <a:cubicBezTo>
                    <a:pt x="11238" y="501871"/>
                    <a:pt x="0" y="490634"/>
                    <a:pt x="0" y="476772"/>
                  </a:cubicBezTo>
                  <a:lnTo>
                    <a:pt x="0" y="25100"/>
                  </a:lnTo>
                  <a:cubicBezTo>
                    <a:pt x="0" y="11238"/>
                    <a:pt x="11238" y="0"/>
                    <a:pt x="25100" y="0"/>
                  </a:cubicBezTo>
                  <a:close/>
                </a:path>
              </a:pathLst>
            </a:custGeom>
            <a:solidFill>
              <a:srgbClr val="0E59BF"/>
            </a:solid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1355808" cy="539971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1077638" y="2739923"/>
            <a:ext cx="6024357" cy="1565683"/>
            <a:chOff x="0" y="0"/>
            <a:chExt cx="1355808" cy="352364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355808" cy="352364"/>
            </a:xfrm>
            <a:custGeom>
              <a:avLst/>
              <a:gdLst/>
              <a:ahLst/>
              <a:cxnLst/>
              <a:rect l="l" t="t" r="r" b="b"/>
              <a:pathLst>
                <a:path w="1355808" h="352364">
                  <a:moveTo>
                    <a:pt x="0" y="0"/>
                  </a:moveTo>
                  <a:lnTo>
                    <a:pt x="1355808" y="0"/>
                  </a:lnTo>
                  <a:lnTo>
                    <a:pt x="1355808" y="352364"/>
                  </a:lnTo>
                  <a:lnTo>
                    <a:pt x="0" y="3523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1355808" cy="390464"/>
            </a:xfrm>
            <a:prstGeom prst="rect">
              <a:avLst/>
            </a:prstGeom>
          </p:spPr>
          <p:txBody>
            <a:bodyPr lIns="46445" tIns="46445" rIns="46445" bIns="46445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11467393" y="2263729"/>
            <a:ext cx="332195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Legacy Enterprise Reality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11865550" y="2983545"/>
            <a:ext cx="539219" cy="539219"/>
          </a:xfrm>
          <a:custGeom>
            <a:avLst/>
            <a:gdLst/>
            <a:ahLst/>
            <a:cxnLst/>
            <a:rect l="l" t="t" r="r" b="b"/>
            <a:pathLst>
              <a:path w="539219" h="539219">
                <a:moveTo>
                  <a:pt x="0" y="0"/>
                </a:moveTo>
                <a:lnTo>
                  <a:pt x="539219" y="0"/>
                </a:lnTo>
                <a:lnTo>
                  <a:pt x="539219" y="539219"/>
                </a:lnTo>
                <a:lnTo>
                  <a:pt x="0" y="539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3" name="TextBox 103"/>
          <p:cNvSpPr txBox="1"/>
          <p:nvPr/>
        </p:nvSpPr>
        <p:spPr>
          <a:xfrm>
            <a:off x="11467393" y="3611422"/>
            <a:ext cx="1335532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25+ Legacy Technologies </a:t>
            </a:r>
          </a:p>
        </p:txBody>
      </p:sp>
      <p:sp>
        <p:nvSpPr>
          <p:cNvPr id="104" name="Freeform 104"/>
          <p:cNvSpPr/>
          <p:nvPr/>
        </p:nvSpPr>
        <p:spPr>
          <a:xfrm>
            <a:off x="13779920" y="2964669"/>
            <a:ext cx="619792" cy="539219"/>
          </a:xfrm>
          <a:custGeom>
            <a:avLst/>
            <a:gdLst/>
            <a:ahLst/>
            <a:cxnLst/>
            <a:rect l="l" t="t" r="r" b="b"/>
            <a:pathLst>
              <a:path w="619792" h="539219">
                <a:moveTo>
                  <a:pt x="0" y="0"/>
                </a:moveTo>
                <a:lnTo>
                  <a:pt x="619792" y="0"/>
                </a:lnTo>
                <a:lnTo>
                  <a:pt x="619792" y="539219"/>
                </a:lnTo>
                <a:lnTo>
                  <a:pt x="0" y="539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5" name="TextBox 105"/>
          <p:cNvSpPr txBox="1"/>
          <p:nvPr/>
        </p:nvSpPr>
        <p:spPr>
          <a:xfrm>
            <a:off x="13422050" y="3592545"/>
            <a:ext cx="1335532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Decades of Technical Debt</a:t>
            </a:r>
          </a:p>
        </p:txBody>
      </p:sp>
      <p:sp>
        <p:nvSpPr>
          <p:cNvPr id="106" name="Freeform 106"/>
          <p:cNvSpPr/>
          <p:nvPr/>
        </p:nvSpPr>
        <p:spPr>
          <a:xfrm>
            <a:off x="15831073" y="2983545"/>
            <a:ext cx="431375" cy="539219"/>
          </a:xfrm>
          <a:custGeom>
            <a:avLst/>
            <a:gdLst/>
            <a:ahLst/>
            <a:cxnLst/>
            <a:rect l="l" t="t" r="r" b="b"/>
            <a:pathLst>
              <a:path w="431375" h="539219">
                <a:moveTo>
                  <a:pt x="0" y="0"/>
                </a:moveTo>
                <a:lnTo>
                  <a:pt x="431376" y="0"/>
                </a:lnTo>
                <a:lnTo>
                  <a:pt x="431376" y="539219"/>
                </a:lnTo>
                <a:lnTo>
                  <a:pt x="0" y="539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7" name="TextBox 107"/>
          <p:cNvSpPr txBox="1"/>
          <p:nvPr/>
        </p:nvSpPr>
        <p:spPr>
          <a:xfrm>
            <a:off x="15378995" y="3611422"/>
            <a:ext cx="1335532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Fragmented Documentation</a:t>
            </a:r>
          </a:p>
        </p:txBody>
      </p:sp>
      <p:sp>
        <p:nvSpPr>
          <p:cNvPr id="108" name="AutoShape 108"/>
          <p:cNvSpPr/>
          <p:nvPr/>
        </p:nvSpPr>
        <p:spPr>
          <a:xfrm>
            <a:off x="13112488" y="3081886"/>
            <a:ext cx="0" cy="919509"/>
          </a:xfrm>
          <a:prstGeom prst="line">
            <a:avLst/>
          </a:prstGeom>
          <a:ln w="19050" cap="flat">
            <a:solidFill>
              <a:srgbClr val="0E59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9" name="AutoShape 109"/>
          <p:cNvSpPr/>
          <p:nvPr/>
        </p:nvSpPr>
        <p:spPr>
          <a:xfrm>
            <a:off x="15071907" y="3063010"/>
            <a:ext cx="0" cy="919509"/>
          </a:xfrm>
          <a:prstGeom prst="line">
            <a:avLst/>
          </a:prstGeom>
          <a:ln w="19050" cap="flat">
            <a:solidFill>
              <a:srgbClr val="0E59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0" name="AutoShape 110"/>
          <p:cNvSpPr/>
          <p:nvPr/>
        </p:nvSpPr>
        <p:spPr>
          <a:xfrm>
            <a:off x="2369950" y="4442945"/>
            <a:ext cx="282729" cy="0"/>
          </a:xfrm>
          <a:prstGeom prst="line">
            <a:avLst/>
          </a:prstGeom>
          <a:ln w="9525" cap="flat">
            <a:solidFill>
              <a:srgbClr val="0E59B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1" name="Freeform 111"/>
          <p:cNvSpPr/>
          <p:nvPr/>
        </p:nvSpPr>
        <p:spPr>
          <a:xfrm>
            <a:off x="2233769" y="5053697"/>
            <a:ext cx="136181" cy="290657"/>
          </a:xfrm>
          <a:custGeom>
            <a:avLst/>
            <a:gdLst/>
            <a:ahLst/>
            <a:cxnLst/>
            <a:rect l="l" t="t" r="r" b="b"/>
            <a:pathLst>
              <a:path w="136181" h="290657">
                <a:moveTo>
                  <a:pt x="0" y="0"/>
                </a:moveTo>
                <a:lnTo>
                  <a:pt x="0" y="116753"/>
                </a:lnTo>
                <a:cubicBezTo>
                  <a:pt x="0" y="132535"/>
                  <a:pt x="12793" y="145328"/>
                  <a:pt x="28575" y="145328"/>
                </a:cubicBezTo>
                <a:lnTo>
                  <a:pt x="107606" y="145328"/>
                </a:lnTo>
                <a:cubicBezTo>
                  <a:pt x="123388" y="145328"/>
                  <a:pt x="136181" y="158121"/>
                  <a:pt x="136181" y="173903"/>
                </a:cubicBezTo>
                <a:lnTo>
                  <a:pt x="136181" y="290657"/>
                </a:lnTo>
              </a:path>
            </a:pathLst>
          </a:custGeom>
          <a:ln w="9525" cap="flat">
            <a:solidFill>
              <a:srgbClr val="0E59B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2" name="AutoShape 112"/>
          <p:cNvSpPr/>
          <p:nvPr/>
        </p:nvSpPr>
        <p:spPr>
          <a:xfrm flipV="1">
            <a:off x="1380837" y="5776136"/>
            <a:ext cx="246983" cy="0"/>
          </a:xfrm>
          <a:prstGeom prst="line">
            <a:avLst/>
          </a:prstGeom>
          <a:ln w="9525" cap="flat">
            <a:solidFill>
              <a:srgbClr val="0E59B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3" name="AutoShape 113"/>
          <p:cNvSpPr/>
          <p:nvPr/>
        </p:nvSpPr>
        <p:spPr>
          <a:xfrm>
            <a:off x="6601042" y="4668063"/>
            <a:ext cx="336298" cy="0"/>
          </a:xfrm>
          <a:prstGeom prst="line">
            <a:avLst/>
          </a:prstGeom>
          <a:ln w="9525" cap="flat">
            <a:solidFill>
              <a:srgbClr val="0E59B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4" name="Freeform 114"/>
          <p:cNvSpPr/>
          <p:nvPr/>
        </p:nvSpPr>
        <p:spPr>
          <a:xfrm>
            <a:off x="7420246" y="5776137"/>
            <a:ext cx="215691" cy="353273"/>
          </a:xfrm>
          <a:custGeom>
            <a:avLst/>
            <a:gdLst/>
            <a:ahLst/>
            <a:cxnLst/>
            <a:rect l="l" t="t" r="r" b="b"/>
            <a:pathLst>
              <a:path w="215691" h="353273">
                <a:moveTo>
                  <a:pt x="215690" y="0"/>
                </a:moveTo>
                <a:lnTo>
                  <a:pt x="215690" y="148061"/>
                </a:lnTo>
                <a:cubicBezTo>
                  <a:pt x="215690" y="163843"/>
                  <a:pt x="202896" y="176636"/>
                  <a:pt x="187115" y="176636"/>
                </a:cubicBezTo>
                <a:lnTo>
                  <a:pt x="28575" y="176636"/>
                </a:lnTo>
                <a:cubicBezTo>
                  <a:pt x="20996" y="176636"/>
                  <a:pt x="13728" y="179647"/>
                  <a:pt x="8369" y="185005"/>
                </a:cubicBezTo>
                <a:cubicBezTo>
                  <a:pt x="3010" y="190364"/>
                  <a:pt x="0" y="197632"/>
                  <a:pt x="0" y="205211"/>
                </a:cubicBezTo>
                <a:lnTo>
                  <a:pt x="0" y="353273"/>
                </a:lnTo>
              </a:path>
            </a:pathLst>
          </a:custGeom>
          <a:ln w="9525" cap="flat">
            <a:solidFill>
              <a:srgbClr val="0E59B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5" name="Freeform 115"/>
          <p:cNvSpPr/>
          <p:nvPr/>
        </p:nvSpPr>
        <p:spPr>
          <a:xfrm>
            <a:off x="6937340" y="5558822"/>
            <a:ext cx="78386" cy="332567"/>
          </a:xfrm>
          <a:custGeom>
            <a:avLst/>
            <a:gdLst/>
            <a:ahLst/>
            <a:cxnLst/>
            <a:rect l="l" t="t" r="r" b="b"/>
            <a:pathLst>
              <a:path w="78386" h="332567">
                <a:moveTo>
                  <a:pt x="78386" y="0"/>
                </a:moveTo>
                <a:lnTo>
                  <a:pt x="78386" y="137708"/>
                </a:lnTo>
                <a:cubicBezTo>
                  <a:pt x="78386" y="153490"/>
                  <a:pt x="65592" y="166283"/>
                  <a:pt x="49811" y="166283"/>
                </a:cubicBezTo>
                <a:lnTo>
                  <a:pt x="28575" y="166283"/>
                </a:lnTo>
                <a:cubicBezTo>
                  <a:pt x="12794" y="166283"/>
                  <a:pt x="0" y="179077"/>
                  <a:pt x="0" y="194858"/>
                </a:cubicBezTo>
                <a:lnTo>
                  <a:pt x="0" y="332567"/>
                </a:lnTo>
              </a:path>
            </a:pathLst>
          </a:custGeom>
          <a:ln w="9525" cap="flat">
            <a:solidFill>
              <a:srgbClr val="0E59B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6" name="TextBox 116"/>
          <p:cNvSpPr txBox="1"/>
          <p:nvPr/>
        </p:nvSpPr>
        <p:spPr>
          <a:xfrm>
            <a:off x="1031694" y="8894578"/>
            <a:ext cx="338548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Commercial | Government | Healthcare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758512" y="8894578"/>
            <a:ext cx="338548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Banking | Public Sector | Manufacturing</a:t>
            </a:r>
          </a:p>
        </p:txBody>
      </p:sp>
      <p:sp>
        <p:nvSpPr>
          <p:cNvPr id="118" name="Freeform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0" y="4002543"/>
            <a:ext cx="7103841" cy="4920609"/>
          </a:xfrm>
          <a:custGeom>
            <a:avLst/>
            <a:gdLst/>
            <a:ahLst/>
            <a:cxnLst/>
            <a:rect l="l" t="t" r="r" b="b"/>
            <a:pathLst>
              <a:path w="7103841" h="4920609">
                <a:moveTo>
                  <a:pt x="0" y="0"/>
                </a:moveTo>
                <a:lnTo>
                  <a:pt x="7103841" y="0"/>
                </a:lnTo>
                <a:lnTo>
                  <a:pt x="7103841" y="4920610"/>
                </a:lnTo>
                <a:lnTo>
                  <a:pt x="0" y="49206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2952" t="-4182" r="-9498" b="-13672"/>
            </a:stretch>
          </a:blipFill>
        </p:spPr>
      </p:sp>
      <p:sp>
        <p:nvSpPr>
          <p:cNvPr id="119" name="TextBox 119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028700"/>
            <a:ext cx="16073295" cy="824943"/>
            <a:chOff x="0" y="0"/>
            <a:chExt cx="21431060" cy="10999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54433" cy="1099924"/>
            </a:xfrm>
            <a:custGeom>
              <a:avLst/>
              <a:gdLst/>
              <a:ahLst/>
              <a:cxnLst/>
              <a:rect l="l" t="t" r="r" b="b"/>
              <a:pathLst>
                <a:path w="2354433" h="1099924">
                  <a:moveTo>
                    <a:pt x="0" y="0"/>
                  </a:moveTo>
                  <a:lnTo>
                    <a:pt x="2354433" y="0"/>
                  </a:lnTo>
                  <a:lnTo>
                    <a:pt x="2354433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14" t="-57970" r="-36034" b="-6913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9566504" y="258133"/>
              <a:ext cx="165865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144686" y="331640"/>
              <a:ext cx="286373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25750" y="763368"/>
              <a:ext cx="5992580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002708"/>
            <a:ext cx="1376064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AI-Driven Intelligent Modernization Engine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907499"/>
            <a:ext cx="1132641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AI-powered software modernization across the complete software development lifecycle.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289380" y="2974174"/>
            <a:ext cx="3969920" cy="1039576"/>
            <a:chOff x="0" y="0"/>
            <a:chExt cx="1260155" cy="3299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60155" cy="329988"/>
            </a:xfrm>
            <a:custGeom>
              <a:avLst/>
              <a:gdLst/>
              <a:ahLst/>
              <a:cxnLst/>
              <a:rect l="l" t="t" r="r" b="b"/>
              <a:pathLst>
                <a:path w="1260155" h="329988">
                  <a:moveTo>
                    <a:pt x="22853" y="0"/>
                  </a:moveTo>
                  <a:lnTo>
                    <a:pt x="1237302" y="0"/>
                  </a:lnTo>
                  <a:cubicBezTo>
                    <a:pt x="1249923" y="0"/>
                    <a:pt x="1260155" y="10232"/>
                    <a:pt x="1260155" y="22853"/>
                  </a:cubicBezTo>
                  <a:lnTo>
                    <a:pt x="1260155" y="307135"/>
                  </a:lnTo>
                  <a:cubicBezTo>
                    <a:pt x="1260155" y="319757"/>
                    <a:pt x="1249923" y="329988"/>
                    <a:pt x="1237302" y="329988"/>
                  </a:cubicBezTo>
                  <a:lnTo>
                    <a:pt x="22853" y="329988"/>
                  </a:lnTo>
                  <a:cubicBezTo>
                    <a:pt x="10232" y="329988"/>
                    <a:pt x="0" y="319757"/>
                    <a:pt x="0" y="307135"/>
                  </a:cubicBezTo>
                  <a:lnTo>
                    <a:pt x="0" y="22853"/>
                  </a:lnTo>
                  <a:cubicBezTo>
                    <a:pt x="0" y="10232"/>
                    <a:pt x="10232" y="0"/>
                    <a:pt x="22853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60155" cy="368088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81467" y="4432545"/>
            <a:ext cx="4136656" cy="3735575"/>
            <a:chOff x="0" y="0"/>
            <a:chExt cx="1388059" cy="12534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88058" cy="1253475"/>
            </a:xfrm>
            <a:custGeom>
              <a:avLst/>
              <a:gdLst/>
              <a:ahLst/>
              <a:cxnLst/>
              <a:rect l="l" t="t" r="r" b="b"/>
              <a:pathLst>
                <a:path w="1388058" h="1253475">
                  <a:moveTo>
                    <a:pt x="694029" y="0"/>
                  </a:moveTo>
                  <a:cubicBezTo>
                    <a:pt x="310727" y="0"/>
                    <a:pt x="0" y="280600"/>
                    <a:pt x="0" y="626738"/>
                  </a:cubicBezTo>
                  <a:cubicBezTo>
                    <a:pt x="0" y="972875"/>
                    <a:pt x="310727" y="1253475"/>
                    <a:pt x="694029" y="1253475"/>
                  </a:cubicBezTo>
                  <a:cubicBezTo>
                    <a:pt x="1077331" y="1253475"/>
                    <a:pt x="1388058" y="972875"/>
                    <a:pt x="1388058" y="626738"/>
                  </a:cubicBezTo>
                  <a:cubicBezTo>
                    <a:pt x="1388058" y="280600"/>
                    <a:pt x="1077331" y="0"/>
                    <a:pt x="694029" y="0"/>
                  </a:cubicBezTo>
                  <a:close/>
                </a:path>
              </a:pathLst>
            </a:custGeom>
            <a:ln w="19050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0130" y="79413"/>
              <a:ext cx="1127798" cy="1056549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39298" y="3539959"/>
            <a:ext cx="11422814" cy="5937416"/>
            <a:chOff x="0" y="0"/>
            <a:chExt cx="3832935" cy="19923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32935" cy="1992305"/>
            </a:xfrm>
            <a:custGeom>
              <a:avLst/>
              <a:gdLst/>
              <a:ahLst/>
              <a:cxnLst/>
              <a:rect l="l" t="t" r="r" b="b"/>
              <a:pathLst>
                <a:path w="3832935" h="1992305">
                  <a:moveTo>
                    <a:pt x="1916468" y="0"/>
                  </a:moveTo>
                  <a:cubicBezTo>
                    <a:pt x="858032" y="0"/>
                    <a:pt x="0" y="445993"/>
                    <a:pt x="0" y="996153"/>
                  </a:cubicBezTo>
                  <a:cubicBezTo>
                    <a:pt x="0" y="1546312"/>
                    <a:pt x="858032" y="1992305"/>
                    <a:pt x="1916468" y="1992305"/>
                  </a:cubicBezTo>
                  <a:cubicBezTo>
                    <a:pt x="2974903" y="1992305"/>
                    <a:pt x="3832935" y="1546312"/>
                    <a:pt x="3832935" y="996153"/>
                  </a:cubicBezTo>
                  <a:cubicBezTo>
                    <a:pt x="3832935" y="445993"/>
                    <a:pt x="2974903" y="0"/>
                    <a:pt x="1916468" y="0"/>
                  </a:cubicBezTo>
                  <a:close/>
                </a:path>
              </a:pathLst>
            </a:custGeom>
            <a:ln w="19050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9338" y="148679"/>
              <a:ext cx="3114260" cy="1656848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063963" y="7858960"/>
            <a:ext cx="2203279" cy="1618415"/>
            <a:chOff x="0" y="0"/>
            <a:chExt cx="699378" cy="5137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9378" cy="513727"/>
            </a:xfrm>
            <a:custGeom>
              <a:avLst/>
              <a:gdLst/>
              <a:ahLst/>
              <a:cxnLst/>
              <a:rect l="l" t="t" r="r" b="b"/>
              <a:pathLst>
                <a:path w="699378" h="513727">
                  <a:moveTo>
                    <a:pt x="41178" y="0"/>
                  </a:moveTo>
                  <a:lnTo>
                    <a:pt x="658200" y="0"/>
                  </a:lnTo>
                  <a:cubicBezTo>
                    <a:pt x="680942" y="0"/>
                    <a:pt x="699378" y="18436"/>
                    <a:pt x="699378" y="41178"/>
                  </a:cubicBezTo>
                  <a:lnTo>
                    <a:pt x="699378" y="472549"/>
                  </a:lnTo>
                  <a:cubicBezTo>
                    <a:pt x="699378" y="483470"/>
                    <a:pt x="695039" y="493944"/>
                    <a:pt x="687317" y="501666"/>
                  </a:cubicBezTo>
                  <a:cubicBezTo>
                    <a:pt x="679595" y="509388"/>
                    <a:pt x="669121" y="513727"/>
                    <a:pt x="658200" y="513727"/>
                  </a:cubicBezTo>
                  <a:lnTo>
                    <a:pt x="41178" y="513727"/>
                  </a:lnTo>
                  <a:cubicBezTo>
                    <a:pt x="18436" y="513727"/>
                    <a:pt x="0" y="495291"/>
                    <a:pt x="0" y="472549"/>
                  </a:cubicBezTo>
                  <a:lnTo>
                    <a:pt x="0" y="41178"/>
                  </a:lnTo>
                  <a:cubicBezTo>
                    <a:pt x="0" y="18436"/>
                    <a:pt x="18436" y="0"/>
                    <a:pt x="4117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99378" cy="551827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41831" y="4576879"/>
            <a:ext cx="2167694" cy="916723"/>
            <a:chOff x="0" y="0"/>
            <a:chExt cx="568259" cy="2403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8259" cy="240318"/>
            </a:xfrm>
            <a:custGeom>
              <a:avLst/>
              <a:gdLst/>
              <a:ahLst/>
              <a:cxnLst/>
              <a:rect l="l" t="t" r="r" b="b"/>
              <a:pathLst>
                <a:path w="568259" h="240318">
                  <a:moveTo>
                    <a:pt x="41854" y="0"/>
                  </a:moveTo>
                  <a:lnTo>
                    <a:pt x="526406" y="0"/>
                  </a:lnTo>
                  <a:cubicBezTo>
                    <a:pt x="537506" y="0"/>
                    <a:pt x="548151" y="4410"/>
                    <a:pt x="556001" y="12259"/>
                  </a:cubicBezTo>
                  <a:cubicBezTo>
                    <a:pt x="563850" y="20108"/>
                    <a:pt x="568259" y="30753"/>
                    <a:pt x="568259" y="41854"/>
                  </a:cubicBezTo>
                  <a:lnTo>
                    <a:pt x="568259" y="198464"/>
                  </a:lnTo>
                  <a:cubicBezTo>
                    <a:pt x="568259" y="221580"/>
                    <a:pt x="549521" y="240318"/>
                    <a:pt x="526406" y="240318"/>
                  </a:cubicBezTo>
                  <a:lnTo>
                    <a:pt x="41854" y="240318"/>
                  </a:lnTo>
                  <a:cubicBezTo>
                    <a:pt x="18738" y="240318"/>
                    <a:pt x="0" y="221580"/>
                    <a:pt x="0" y="198464"/>
                  </a:cubicBezTo>
                  <a:lnTo>
                    <a:pt x="0" y="41854"/>
                  </a:lnTo>
                  <a:cubicBezTo>
                    <a:pt x="0" y="18738"/>
                    <a:pt x="18738" y="0"/>
                    <a:pt x="4185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68259" cy="278418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24880" y="7656218"/>
            <a:ext cx="989887" cy="398677"/>
            <a:chOff x="0" y="0"/>
            <a:chExt cx="259498" cy="1045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9498" cy="104513"/>
            </a:xfrm>
            <a:custGeom>
              <a:avLst/>
              <a:gdLst/>
              <a:ahLst/>
              <a:cxnLst/>
              <a:rect l="l" t="t" r="r" b="b"/>
              <a:pathLst>
                <a:path w="259498" h="104513">
                  <a:moveTo>
                    <a:pt x="52256" y="0"/>
                  </a:moveTo>
                  <a:lnTo>
                    <a:pt x="207242" y="0"/>
                  </a:lnTo>
                  <a:cubicBezTo>
                    <a:pt x="221101" y="0"/>
                    <a:pt x="234392" y="5506"/>
                    <a:pt x="244192" y="15306"/>
                  </a:cubicBezTo>
                  <a:cubicBezTo>
                    <a:pt x="253992" y="25106"/>
                    <a:pt x="259498" y="38397"/>
                    <a:pt x="259498" y="52256"/>
                  </a:cubicBezTo>
                  <a:lnTo>
                    <a:pt x="259498" y="52256"/>
                  </a:lnTo>
                  <a:cubicBezTo>
                    <a:pt x="259498" y="81117"/>
                    <a:pt x="236102" y="104513"/>
                    <a:pt x="207242" y="104513"/>
                  </a:cubicBezTo>
                  <a:lnTo>
                    <a:pt x="52256" y="104513"/>
                  </a:lnTo>
                  <a:cubicBezTo>
                    <a:pt x="23396" y="104513"/>
                    <a:pt x="0" y="81117"/>
                    <a:pt x="0" y="52256"/>
                  </a:cubicBezTo>
                  <a:lnTo>
                    <a:pt x="0" y="52256"/>
                  </a:lnTo>
                  <a:cubicBezTo>
                    <a:pt x="0" y="23396"/>
                    <a:pt x="23396" y="0"/>
                    <a:pt x="5225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9498" cy="142613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141831" y="8087904"/>
            <a:ext cx="1284369" cy="398677"/>
            <a:chOff x="0" y="0"/>
            <a:chExt cx="336696" cy="10451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36696" cy="104513"/>
            </a:xfrm>
            <a:custGeom>
              <a:avLst/>
              <a:gdLst/>
              <a:ahLst/>
              <a:cxnLst/>
              <a:rect l="l" t="t" r="r" b="b"/>
              <a:pathLst>
                <a:path w="336696" h="104513">
                  <a:moveTo>
                    <a:pt x="52256" y="0"/>
                  </a:moveTo>
                  <a:lnTo>
                    <a:pt x="284440" y="0"/>
                  </a:lnTo>
                  <a:cubicBezTo>
                    <a:pt x="313300" y="0"/>
                    <a:pt x="336696" y="23396"/>
                    <a:pt x="336696" y="52256"/>
                  </a:cubicBezTo>
                  <a:lnTo>
                    <a:pt x="336696" y="52256"/>
                  </a:lnTo>
                  <a:cubicBezTo>
                    <a:pt x="336696" y="66116"/>
                    <a:pt x="331191" y="79407"/>
                    <a:pt x="321391" y="89207"/>
                  </a:cubicBezTo>
                  <a:cubicBezTo>
                    <a:pt x="311591" y="99007"/>
                    <a:pt x="298299" y="104513"/>
                    <a:pt x="284440" y="104513"/>
                  </a:cubicBezTo>
                  <a:lnTo>
                    <a:pt x="52256" y="104513"/>
                  </a:lnTo>
                  <a:cubicBezTo>
                    <a:pt x="23396" y="104513"/>
                    <a:pt x="0" y="81117"/>
                    <a:pt x="0" y="52256"/>
                  </a:cubicBezTo>
                  <a:lnTo>
                    <a:pt x="0" y="52256"/>
                  </a:lnTo>
                  <a:cubicBezTo>
                    <a:pt x="0" y="23396"/>
                    <a:pt x="23396" y="0"/>
                    <a:pt x="5225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36696" cy="142613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29372" y="8168120"/>
            <a:ext cx="1249724" cy="398677"/>
            <a:chOff x="0" y="0"/>
            <a:chExt cx="327614" cy="10451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27614" cy="104513"/>
            </a:xfrm>
            <a:custGeom>
              <a:avLst/>
              <a:gdLst/>
              <a:ahLst/>
              <a:cxnLst/>
              <a:rect l="l" t="t" r="r" b="b"/>
              <a:pathLst>
                <a:path w="327614" h="104513">
                  <a:moveTo>
                    <a:pt x="52256" y="0"/>
                  </a:moveTo>
                  <a:lnTo>
                    <a:pt x="275358" y="0"/>
                  </a:lnTo>
                  <a:cubicBezTo>
                    <a:pt x="304218" y="0"/>
                    <a:pt x="327614" y="23396"/>
                    <a:pt x="327614" y="52256"/>
                  </a:cubicBezTo>
                  <a:lnTo>
                    <a:pt x="327614" y="52256"/>
                  </a:lnTo>
                  <a:cubicBezTo>
                    <a:pt x="327614" y="81117"/>
                    <a:pt x="304218" y="104513"/>
                    <a:pt x="275358" y="104513"/>
                  </a:cubicBezTo>
                  <a:lnTo>
                    <a:pt x="52256" y="104513"/>
                  </a:lnTo>
                  <a:cubicBezTo>
                    <a:pt x="23396" y="104513"/>
                    <a:pt x="0" y="81117"/>
                    <a:pt x="0" y="52256"/>
                  </a:cubicBezTo>
                  <a:lnTo>
                    <a:pt x="0" y="52256"/>
                  </a:lnTo>
                  <a:cubicBezTo>
                    <a:pt x="0" y="23396"/>
                    <a:pt x="23396" y="0"/>
                    <a:pt x="5225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27614" cy="142613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602925" y="5967461"/>
            <a:ext cx="2236984" cy="952731"/>
            <a:chOff x="0" y="0"/>
            <a:chExt cx="586423" cy="24975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86423" cy="249758"/>
            </a:xfrm>
            <a:custGeom>
              <a:avLst/>
              <a:gdLst/>
              <a:ahLst/>
              <a:cxnLst/>
              <a:rect l="l" t="t" r="r" b="b"/>
              <a:pathLst>
                <a:path w="586423" h="249758">
                  <a:moveTo>
                    <a:pt x="40557" y="0"/>
                  </a:moveTo>
                  <a:lnTo>
                    <a:pt x="545866" y="0"/>
                  </a:lnTo>
                  <a:cubicBezTo>
                    <a:pt x="568265" y="0"/>
                    <a:pt x="586423" y="18158"/>
                    <a:pt x="586423" y="40557"/>
                  </a:cubicBezTo>
                  <a:lnTo>
                    <a:pt x="586423" y="209200"/>
                  </a:lnTo>
                  <a:cubicBezTo>
                    <a:pt x="586423" y="231600"/>
                    <a:pt x="568265" y="249758"/>
                    <a:pt x="545866" y="249758"/>
                  </a:cubicBezTo>
                  <a:lnTo>
                    <a:pt x="40557" y="249758"/>
                  </a:lnTo>
                  <a:cubicBezTo>
                    <a:pt x="29801" y="249758"/>
                    <a:pt x="19485" y="245485"/>
                    <a:pt x="11879" y="237879"/>
                  </a:cubicBezTo>
                  <a:cubicBezTo>
                    <a:pt x="4273" y="230273"/>
                    <a:pt x="0" y="219957"/>
                    <a:pt x="0" y="209200"/>
                  </a:cubicBezTo>
                  <a:lnTo>
                    <a:pt x="0" y="40557"/>
                  </a:lnTo>
                  <a:cubicBezTo>
                    <a:pt x="0" y="18158"/>
                    <a:pt x="18158" y="0"/>
                    <a:pt x="4055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586423" cy="287858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90780" y="6122068"/>
            <a:ext cx="911936" cy="398677"/>
            <a:chOff x="0" y="0"/>
            <a:chExt cx="239063" cy="10451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9063" cy="104513"/>
            </a:xfrm>
            <a:custGeom>
              <a:avLst/>
              <a:gdLst/>
              <a:ahLst/>
              <a:cxnLst/>
              <a:rect l="l" t="t" r="r" b="b"/>
              <a:pathLst>
                <a:path w="239063" h="104513">
                  <a:moveTo>
                    <a:pt x="52256" y="0"/>
                  </a:moveTo>
                  <a:lnTo>
                    <a:pt x="186807" y="0"/>
                  </a:lnTo>
                  <a:cubicBezTo>
                    <a:pt x="200666" y="0"/>
                    <a:pt x="213958" y="5506"/>
                    <a:pt x="223758" y="15306"/>
                  </a:cubicBezTo>
                  <a:cubicBezTo>
                    <a:pt x="233558" y="25106"/>
                    <a:pt x="239063" y="38397"/>
                    <a:pt x="239063" y="52256"/>
                  </a:cubicBezTo>
                  <a:lnTo>
                    <a:pt x="239063" y="52256"/>
                  </a:lnTo>
                  <a:cubicBezTo>
                    <a:pt x="239063" y="81117"/>
                    <a:pt x="215667" y="104513"/>
                    <a:pt x="186807" y="104513"/>
                  </a:cubicBezTo>
                  <a:lnTo>
                    <a:pt x="52256" y="104513"/>
                  </a:lnTo>
                  <a:cubicBezTo>
                    <a:pt x="23396" y="104513"/>
                    <a:pt x="0" y="81117"/>
                    <a:pt x="0" y="52256"/>
                  </a:cubicBezTo>
                  <a:lnTo>
                    <a:pt x="0" y="52256"/>
                  </a:lnTo>
                  <a:cubicBezTo>
                    <a:pt x="0" y="23396"/>
                    <a:pt x="23396" y="0"/>
                    <a:pt x="5225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39063" cy="142613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563968" y="5967461"/>
            <a:ext cx="2236984" cy="952731"/>
            <a:chOff x="0" y="0"/>
            <a:chExt cx="586423" cy="24975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6423" cy="249758"/>
            </a:xfrm>
            <a:custGeom>
              <a:avLst/>
              <a:gdLst/>
              <a:ahLst/>
              <a:cxnLst/>
              <a:rect l="l" t="t" r="r" b="b"/>
              <a:pathLst>
                <a:path w="586423" h="249758">
                  <a:moveTo>
                    <a:pt x="40557" y="0"/>
                  </a:moveTo>
                  <a:lnTo>
                    <a:pt x="545866" y="0"/>
                  </a:lnTo>
                  <a:cubicBezTo>
                    <a:pt x="568265" y="0"/>
                    <a:pt x="586423" y="18158"/>
                    <a:pt x="586423" y="40557"/>
                  </a:cubicBezTo>
                  <a:lnTo>
                    <a:pt x="586423" y="209200"/>
                  </a:lnTo>
                  <a:cubicBezTo>
                    <a:pt x="586423" y="231600"/>
                    <a:pt x="568265" y="249758"/>
                    <a:pt x="545866" y="249758"/>
                  </a:cubicBezTo>
                  <a:lnTo>
                    <a:pt x="40557" y="249758"/>
                  </a:lnTo>
                  <a:cubicBezTo>
                    <a:pt x="29801" y="249758"/>
                    <a:pt x="19485" y="245485"/>
                    <a:pt x="11879" y="237879"/>
                  </a:cubicBezTo>
                  <a:cubicBezTo>
                    <a:pt x="4273" y="230273"/>
                    <a:pt x="0" y="219957"/>
                    <a:pt x="0" y="209200"/>
                  </a:cubicBezTo>
                  <a:lnTo>
                    <a:pt x="0" y="40557"/>
                  </a:lnTo>
                  <a:cubicBezTo>
                    <a:pt x="0" y="18158"/>
                    <a:pt x="18158" y="0"/>
                    <a:pt x="4055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586423" cy="287858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828061" y="6122068"/>
            <a:ext cx="911936" cy="398677"/>
            <a:chOff x="0" y="0"/>
            <a:chExt cx="239063" cy="10451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39063" cy="104513"/>
            </a:xfrm>
            <a:custGeom>
              <a:avLst/>
              <a:gdLst/>
              <a:ahLst/>
              <a:cxnLst/>
              <a:rect l="l" t="t" r="r" b="b"/>
              <a:pathLst>
                <a:path w="239063" h="104513">
                  <a:moveTo>
                    <a:pt x="52256" y="0"/>
                  </a:moveTo>
                  <a:lnTo>
                    <a:pt x="186807" y="0"/>
                  </a:lnTo>
                  <a:cubicBezTo>
                    <a:pt x="200666" y="0"/>
                    <a:pt x="213958" y="5506"/>
                    <a:pt x="223758" y="15306"/>
                  </a:cubicBezTo>
                  <a:cubicBezTo>
                    <a:pt x="233558" y="25106"/>
                    <a:pt x="239063" y="38397"/>
                    <a:pt x="239063" y="52256"/>
                  </a:cubicBezTo>
                  <a:lnTo>
                    <a:pt x="239063" y="52256"/>
                  </a:lnTo>
                  <a:cubicBezTo>
                    <a:pt x="239063" y="81117"/>
                    <a:pt x="215667" y="104513"/>
                    <a:pt x="186807" y="104513"/>
                  </a:cubicBezTo>
                  <a:lnTo>
                    <a:pt x="52256" y="104513"/>
                  </a:lnTo>
                  <a:cubicBezTo>
                    <a:pt x="23396" y="104513"/>
                    <a:pt x="0" y="81117"/>
                    <a:pt x="0" y="52256"/>
                  </a:cubicBezTo>
                  <a:lnTo>
                    <a:pt x="0" y="52256"/>
                  </a:lnTo>
                  <a:cubicBezTo>
                    <a:pt x="0" y="23396"/>
                    <a:pt x="23396" y="0"/>
                    <a:pt x="5225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39063" cy="142613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088090" y="4621068"/>
            <a:ext cx="2167694" cy="916723"/>
            <a:chOff x="0" y="0"/>
            <a:chExt cx="568259" cy="24031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68259" cy="240318"/>
            </a:xfrm>
            <a:custGeom>
              <a:avLst/>
              <a:gdLst/>
              <a:ahLst/>
              <a:cxnLst/>
              <a:rect l="l" t="t" r="r" b="b"/>
              <a:pathLst>
                <a:path w="568259" h="240318">
                  <a:moveTo>
                    <a:pt x="41854" y="0"/>
                  </a:moveTo>
                  <a:lnTo>
                    <a:pt x="526406" y="0"/>
                  </a:lnTo>
                  <a:cubicBezTo>
                    <a:pt x="537506" y="0"/>
                    <a:pt x="548151" y="4410"/>
                    <a:pt x="556001" y="12259"/>
                  </a:cubicBezTo>
                  <a:cubicBezTo>
                    <a:pt x="563850" y="20108"/>
                    <a:pt x="568259" y="30753"/>
                    <a:pt x="568259" y="41854"/>
                  </a:cubicBezTo>
                  <a:lnTo>
                    <a:pt x="568259" y="198464"/>
                  </a:lnTo>
                  <a:cubicBezTo>
                    <a:pt x="568259" y="221580"/>
                    <a:pt x="549521" y="240318"/>
                    <a:pt x="526406" y="240318"/>
                  </a:cubicBezTo>
                  <a:lnTo>
                    <a:pt x="41854" y="240318"/>
                  </a:lnTo>
                  <a:cubicBezTo>
                    <a:pt x="18738" y="240318"/>
                    <a:pt x="0" y="221580"/>
                    <a:pt x="0" y="198464"/>
                  </a:cubicBezTo>
                  <a:lnTo>
                    <a:pt x="0" y="41854"/>
                  </a:lnTo>
                  <a:cubicBezTo>
                    <a:pt x="0" y="18738"/>
                    <a:pt x="18738" y="0"/>
                    <a:pt x="4185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568259" cy="278418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97127" y="7138172"/>
            <a:ext cx="1958658" cy="916723"/>
            <a:chOff x="0" y="0"/>
            <a:chExt cx="513460" cy="24031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13460" cy="240318"/>
            </a:xfrm>
            <a:custGeom>
              <a:avLst/>
              <a:gdLst/>
              <a:ahLst/>
              <a:cxnLst/>
              <a:rect l="l" t="t" r="r" b="b"/>
              <a:pathLst>
                <a:path w="513460" h="240318">
                  <a:moveTo>
                    <a:pt x="46320" y="0"/>
                  </a:moveTo>
                  <a:lnTo>
                    <a:pt x="467140" y="0"/>
                  </a:lnTo>
                  <a:cubicBezTo>
                    <a:pt x="492722" y="0"/>
                    <a:pt x="513460" y="20738"/>
                    <a:pt x="513460" y="46320"/>
                  </a:cubicBezTo>
                  <a:lnTo>
                    <a:pt x="513460" y="193998"/>
                  </a:lnTo>
                  <a:cubicBezTo>
                    <a:pt x="513460" y="219580"/>
                    <a:pt x="492722" y="240318"/>
                    <a:pt x="467140" y="240318"/>
                  </a:cubicBezTo>
                  <a:lnTo>
                    <a:pt x="46320" y="240318"/>
                  </a:lnTo>
                  <a:cubicBezTo>
                    <a:pt x="20738" y="240318"/>
                    <a:pt x="0" y="219580"/>
                    <a:pt x="0" y="193998"/>
                  </a:cubicBezTo>
                  <a:lnTo>
                    <a:pt x="0" y="46320"/>
                  </a:lnTo>
                  <a:cubicBezTo>
                    <a:pt x="0" y="20738"/>
                    <a:pt x="20738" y="0"/>
                    <a:pt x="463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13460" cy="278418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120304" y="8541756"/>
            <a:ext cx="2178013" cy="670689"/>
            <a:chOff x="0" y="0"/>
            <a:chExt cx="570964" cy="17582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70964" cy="175821"/>
            </a:xfrm>
            <a:custGeom>
              <a:avLst/>
              <a:gdLst/>
              <a:ahLst/>
              <a:cxnLst/>
              <a:rect l="l" t="t" r="r" b="b"/>
              <a:pathLst>
                <a:path w="570964" h="175821">
                  <a:moveTo>
                    <a:pt x="41655" y="0"/>
                  </a:moveTo>
                  <a:lnTo>
                    <a:pt x="529309" y="0"/>
                  </a:lnTo>
                  <a:cubicBezTo>
                    <a:pt x="552315" y="0"/>
                    <a:pt x="570964" y="18650"/>
                    <a:pt x="570964" y="41655"/>
                  </a:cubicBezTo>
                  <a:lnTo>
                    <a:pt x="570964" y="134165"/>
                  </a:lnTo>
                  <a:cubicBezTo>
                    <a:pt x="570964" y="145213"/>
                    <a:pt x="566576" y="155808"/>
                    <a:pt x="558764" y="163620"/>
                  </a:cubicBezTo>
                  <a:cubicBezTo>
                    <a:pt x="550952" y="171432"/>
                    <a:pt x="540357" y="175821"/>
                    <a:pt x="529309" y="175821"/>
                  </a:cubicBezTo>
                  <a:lnTo>
                    <a:pt x="41655" y="175821"/>
                  </a:lnTo>
                  <a:cubicBezTo>
                    <a:pt x="30608" y="175821"/>
                    <a:pt x="20012" y="171432"/>
                    <a:pt x="12201" y="163620"/>
                  </a:cubicBezTo>
                  <a:cubicBezTo>
                    <a:pt x="4389" y="155808"/>
                    <a:pt x="0" y="145213"/>
                    <a:pt x="0" y="134165"/>
                  </a:cubicBezTo>
                  <a:lnTo>
                    <a:pt x="0" y="41655"/>
                  </a:lnTo>
                  <a:cubicBezTo>
                    <a:pt x="0" y="30608"/>
                    <a:pt x="4389" y="20012"/>
                    <a:pt x="12201" y="12201"/>
                  </a:cubicBezTo>
                  <a:cubicBezTo>
                    <a:pt x="20012" y="4389"/>
                    <a:pt x="30608" y="0"/>
                    <a:pt x="4165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570964" cy="213921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222882" y="7138172"/>
            <a:ext cx="2300103" cy="819545"/>
            <a:chOff x="0" y="0"/>
            <a:chExt cx="602970" cy="21484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02970" cy="214843"/>
            </a:xfrm>
            <a:custGeom>
              <a:avLst/>
              <a:gdLst/>
              <a:ahLst/>
              <a:cxnLst/>
              <a:rect l="l" t="t" r="r" b="b"/>
              <a:pathLst>
                <a:path w="602970" h="214843">
                  <a:moveTo>
                    <a:pt x="39444" y="0"/>
                  </a:moveTo>
                  <a:lnTo>
                    <a:pt x="563526" y="0"/>
                  </a:lnTo>
                  <a:cubicBezTo>
                    <a:pt x="573987" y="0"/>
                    <a:pt x="584020" y="4156"/>
                    <a:pt x="591417" y="11553"/>
                  </a:cubicBezTo>
                  <a:cubicBezTo>
                    <a:pt x="598814" y="18950"/>
                    <a:pt x="602970" y="28983"/>
                    <a:pt x="602970" y="39444"/>
                  </a:cubicBezTo>
                  <a:lnTo>
                    <a:pt x="602970" y="175399"/>
                  </a:lnTo>
                  <a:cubicBezTo>
                    <a:pt x="602970" y="197183"/>
                    <a:pt x="585310" y="214843"/>
                    <a:pt x="563526" y="214843"/>
                  </a:cubicBezTo>
                  <a:lnTo>
                    <a:pt x="39444" y="214843"/>
                  </a:lnTo>
                  <a:cubicBezTo>
                    <a:pt x="28983" y="214843"/>
                    <a:pt x="18950" y="210687"/>
                    <a:pt x="11553" y="203290"/>
                  </a:cubicBezTo>
                  <a:cubicBezTo>
                    <a:pt x="4156" y="195893"/>
                    <a:pt x="0" y="185860"/>
                    <a:pt x="0" y="175399"/>
                  </a:cubicBezTo>
                  <a:lnTo>
                    <a:pt x="0" y="39444"/>
                  </a:lnTo>
                  <a:cubicBezTo>
                    <a:pt x="0" y="28983"/>
                    <a:pt x="4156" y="18950"/>
                    <a:pt x="11553" y="11553"/>
                  </a:cubicBezTo>
                  <a:cubicBezTo>
                    <a:pt x="18950" y="4156"/>
                    <a:pt x="28983" y="0"/>
                    <a:pt x="394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602970" cy="252943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921823" y="5035240"/>
            <a:ext cx="2589888" cy="2530185"/>
            <a:chOff x="0" y="0"/>
            <a:chExt cx="1002869" cy="97975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02869" cy="979751"/>
            </a:xfrm>
            <a:custGeom>
              <a:avLst/>
              <a:gdLst/>
              <a:ahLst/>
              <a:cxnLst/>
              <a:rect l="l" t="t" r="r" b="b"/>
              <a:pathLst>
                <a:path w="1002869" h="979751">
                  <a:moveTo>
                    <a:pt x="501434" y="0"/>
                  </a:moveTo>
                  <a:cubicBezTo>
                    <a:pt x="224500" y="0"/>
                    <a:pt x="0" y="219325"/>
                    <a:pt x="0" y="489875"/>
                  </a:cubicBezTo>
                  <a:cubicBezTo>
                    <a:pt x="0" y="760426"/>
                    <a:pt x="224500" y="979751"/>
                    <a:pt x="501434" y="979751"/>
                  </a:cubicBezTo>
                  <a:cubicBezTo>
                    <a:pt x="778369" y="979751"/>
                    <a:pt x="1002869" y="760426"/>
                    <a:pt x="1002869" y="489875"/>
                  </a:cubicBezTo>
                  <a:cubicBezTo>
                    <a:pt x="1002869" y="219325"/>
                    <a:pt x="778369" y="0"/>
                    <a:pt x="501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94019" y="53752"/>
              <a:ext cx="814831" cy="834147"/>
            </a:xfrm>
            <a:prstGeom prst="rect">
              <a:avLst/>
            </a:prstGeom>
          </p:spPr>
          <p:txBody>
            <a:bodyPr lIns="39873" tIns="39873" rIns="39873" bIns="39873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01467" y="4147101"/>
            <a:ext cx="1476517" cy="5370875"/>
            <a:chOff x="0" y="0"/>
            <a:chExt cx="385056" cy="140065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85056" cy="1400652"/>
            </a:xfrm>
            <a:custGeom>
              <a:avLst/>
              <a:gdLst/>
              <a:ahLst/>
              <a:cxnLst/>
              <a:rect l="l" t="t" r="r" b="b"/>
              <a:pathLst>
                <a:path w="385056" h="1400652">
                  <a:moveTo>
                    <a:pt x="61446" y="0"/>
                  </a:moveTo>
                  <a:lnTo>
                    <a:pt x="323610" y="0"/>
                  </a:lnTo>
                  <a:cubicBezTo>
                    <a:pt x="339906" y="0"/>
                    <a:pt x="355535" y="6474"/>
                    <a:pt x="367059" y="17997"/>
                  </a:cubicBezTo>
                  <a:cubicBezTo>
                    <a:pt x="378582" y="29520"/>
                    <a:pt x="385056" y="45149"/>
                    <a:pt x="385056" y="61446"/>
                  </a:cubicBezTo>
                  <a:lnTo>
                    <a:pt x="385056" y="1339206"/>
                  </a:lnTo>
                  <a:cubicBezTo>
                    <a:pt x="385056" y="1373142"/>
                    <a:pt x="357546" y="1400652"/>
                    <a:pt x="323610" y="1400652"/>
                  </a:cubicBezTo>
                  <a:lnTo>
                    <a:pt x="61446" y="1400652"/>
                  </a:lnTo>
                  <a:cubicBezTo>
                    <a:pt x="27510" y="1400652"/>
                    <a:pt x="0" y="1373142"/>
                    <a:pt x="0" y="1339206"/>
                  </a:cubicBezTo>
                  <a:lnTo>
                    <a:pt x="0" y="61446"/>
                  </a:lnTo>
                  <a:cubicBezTo>
                    <a:pt x="0" y="27510"/>
                    <a:pt x="27510" y="0"/>
                    <a:pt x="614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85056" cy="1438752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21270" y="4774744"/>
            <a:ext cx="1236911" cy="538817"/>
            <a:chOff x="0" y="0"/>
            <a:chExt cx="322570" cy="14051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21270" y="5434102"/>
            <a:ext cx="1236911" cy="538817"/>
            <a:chOff x="0" y="0"/>
            <a:chExt cx="322570" cy="14051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21270" y="6093460"/>
            <a:ext cx="1236911" cy="538817"/>
            <a:chOff x="0" y="0"/>
            <a:chExt cx="322570" cy="14051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21270" y="6752817"/>
            <a:ext cx="1236911" cy="538817"/>
            <a:chOff x="0" y="0"/>
            <a:chExt cx="322570" cy="14051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21270" y="7412175"/>
            <a:ext cx="1236911" cy="538817"/>
            <a:chOff x="0" y="0"/>
            <a:chExt cx="322570" cy="14051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221270" y="8071533"/>
            <a:ext cx="1236911" cy="538817"/>
            <a:chOff x="0" y="0"/>
            <a:chExt cx="322570" cy="140516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21270" y="8730891"/>
            <a:ext cx="1236911" cy="538817"/>
            <a:chOff x="0" y="0"/>
            <a:chExt cx="322570" cy="14051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3113263" y="8265545"/>
            <a:ext cx="2128116" cy="106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Containerized Platform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Human-in-the-loop AI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Vendor Lock-in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Maintainable Production Code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Reusable AI Knowledge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Enterprise-grade Security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169011" y="8026320"/>
            <a:ext cx="1306513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Why</a:t>
            </a: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AIForge™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362497" y="5640738"/>
            <a:ext cx="170854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AIForge™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219972" y="6187338"/>
            <a:ext cx="199358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Intelligent Modernization Engine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297127" y="4815904"/>
            <a:ext cx="1749622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Legacy Code Ingestion</a:t>
            </a: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Automatically understands 25+ legacy technologies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258106" y="4771715"/>
            <a:ext cx="1935144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Logic Extraction</a:t>
            </a: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Discovers workflows, dependencies and architecture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721628" y="6094577"/>
            <a:ext cx="193514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</a:t>
            </a: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Deploys production-ready applications into secure enterprise cloud environments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426821" y="7216175"/>
            <a:ext cx="172741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Secure Cloud 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Deploys-ready applications into-secure enterprise cloud environments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1784016" y="6008852"/>
            <a:ext cx="1935144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Knowledge Graph</a:t>
            </a: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 a complex detailed actual node graph blueprint connecting applications, data and business logic, not just an icon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1458628" y="7198694"/>
            <a:ext cx="193514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Software Factory </a:t>
            </a:r>
          </a:p>
          <a:p>
            <a:pPr algn="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Generates modern applications, APIs, documentation, testing and deployment assets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284029" y="8106709"/>
            <a:ext cx="967572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Documentation Agent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0036037" y="7677756"/>
            <a:ext cx="967572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Migration Agent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670448" y="8282921"/>
            <a:ext cx="967572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Security Agent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0834922" y="6143606"/>
            <a:ext cx="911936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Architecture Agent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590780" y="6143606"/>
            <a:ext cx="911936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Deployment Agent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241738" y="8613576"/>
            <a:ext cx="1935144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Human Governance </a:t>
            </a:r>
          </a:p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Human approvals, explainability, compliance and auditability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201583" y="3808135"/>
            <a:ext cx="4015454" cy="400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 dirty="0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 Modernization Lifecycle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55939" y="4233308"/>
            <a:ext cx="967572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Legacy Inputs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08841" y="4899675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COBOL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308841" y="5533717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Java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308841" y="6150614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.NET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308841" y="6809745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PowerBuilder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308841" y="7468877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ColdFusion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308841" y="8128008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Oracle Forms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308841" y="8787139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Mainframe</a:t>
            </a:r>
          </a:p>
        </p:txBody>
      </p:sp>
      <p:grpSp>
        <p:nvGrpSpPr>
          <p:cNvPr id="118" name="Group 118"/>
          <p:cNvGrpSpPr/>
          <p:nvPr/>
        </p:nvGrpSpPr>
        <p:grpSpPr>
          <a:xfrm>
            <a:off x="15710016" y="4145850"/>
            <a:ext cx="1476517" cy="5370875"/>
            <a:chOff x="0" y="0"/>
            <a:chExt cx="385056" cy="1400652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85056" cy="1400652"/>
            </a:xfrm>
            <a:custGeom>
              <a:avLst/>
              <a:gdLst/>
              <a:ahLst/>
              <a:cxnLst/>
              <a:rect l="l" t="t" r="r" b="b"/>
              <a:pathLst>
                <a:path w="385056" h="1400652">
                  <a:moveTo>
                    <a:pt x="61446" y="0"/>
                  </a:moveTo>
                  <a:lnTo>
                    <a:pt x="323610" y="0"/>
                  </a:lnTo>
                  <a:cubicBezTo>
                    <a:pt x="339906" y="0"/>
                    <a:pt x="355535" y="6474"/>
                    <a:pt x="367059" y="17997"/>
                  </a:cubicBezTo>
                  <a:cubicBezTo>
                    <a:pt x="378582" y="29520"/>
                    <a:pt x="385056" y="45149"/>
                    <a:pt x="385056" y="61446"/>
                  </a:cubicBezTo>
                  <a:lnTo>
                    <a:pt x="385056" y="1339206"/>
                  </a:lnTo>
                  <a:cubicBezTo>
                    <a:pt x="385056" y="1373142"/>
                    <a:pt x="357546" y="1400652"/>
                    <a:pt x="323610" y="1400652"/>
                  </a:cubicBezTo>
                  <a:lnTo>
                    <a:pt x="61446" y="1400652"/>
                  </a:lnTo>
                  <a:cubicBezTo>
                    <a:pt x="27510" y="1400652"/>
                    <a:pt x="0" y="1373142"/>
                    <a:pt x="0" y="1339206"/>
                  </a:cubicBezTo>
                  <a:lnTo>
                    <a:pt x="0" y="61446"/>
                  </a:lnTo>
                  <a:cubicBezTo>
                    <a:pt x="0" y="27510"/>
                    <a:pt x="27510" y="0"/>
                    <a:pt x="614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385056" cy="1438752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5829819" y="4773494"/>
            <a:ext cx="1236911" cy="538817"/>
            <a:chOff x="0" y="0"/>
            <a:chExt cx="322570" cy="140516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5829819" y="5432852"/>
            <a:ext cx="1236911" cy="538817"/>
            <a:chOff x="0" y="0"/>
            <a:chExt cx="322570" cy="14051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5829819" y="6092210"/>
            <a:ext cx="1236911" cy="538817"/>
            <a:chOff x="0" y="0"/>
            <a:chExt cx="322570" cy="140516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5829819" y="6751567"/>
            <a:ext cx="1236911" cy="538817"/>
            <a:chOff x="0" y="0"/>
            <a:chExt cx="322570" cy="140516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5829819" y="7410925"/>
            <a:ext cx="1236911" cy="538817"/>
            <a:chOff x="0" y="0"/>
            <a:chExt cx="322570" cy="140516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5829819" y="8070283"/>
            <a:ext cx="1236911" cy="538817"/>
            <a:chOff x="0" y="0"/>
            <a:chExt cx="322570" cy="140516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5829819" y="8729641"/>
            <a:ext cx="1236911" cy="538817"/>
            <a:chOff x="0" y="0"/>
            <a:chExt cx="322570" cy="140516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322570" cy="140516"/>
            </a:xfrm>
            <a:custGeom>
              <a:avLst/>
              <a:gdLst/>
              <a:ahLst/>
              <a:cxnLst/>
              <a:rect l="l" t="t" r="r" b="b"/>
              <a:pathLst>
                <a:path w="322570" h="140516">
                  <a:moveTo>
                    <a:pt x="70258" y="0"/>
                  </a:moveTo>
                  <a:lnTo>
                    <a:pt x="252312" y="0"/>
                  </a:lnTo>
                  <a:cubicBezTo>
                    <a:pt x="270945" y="0"/>
                    <a:pt x="288816" y="7402"/>
                    <a:pt x="301992" y="20578"/>
                  </a:cubicBezTo>
                  <a:cubicBezTo>
                    <a:pt x="315168" y="33754"/>
                    <a:pt x="322570" y="51625"/>
                    <a:pt x="322570" y="70258"/>
                  </a:cubicBezTo>
                  <a:lnTo>
                    <a:pt x="322570" y="70258"/>
                  </a:lnTo>
                  <a:cubicBezTo>
                    <a:pt x="322570" y="109061"/>
                    <a:pt x="291114" y="140516"/>
                    <a:pt x="252312" y="140516"/>
                  </a:cubicBezTo>
                  <a:lnTo>
                    <a:pt x="70258" y="140516"/>
                  </a:lnTo>
                  <a:cubicBezTo>
                    <a:pt x="51625" y="140516"/>
                    <a:pt x="33754" y="133114"/>
                    <a:pt x="20578" y="119938"/>
                  </a:cubicBezTo>
                  <a:cubicBezTo>
                    <a:pt x="7402" y="106762"/>
                    <a:pt x="0" y="88892"/>
                    <a:pt x="0" y="70258"/>
                  </a:cubicBezTo>
                  <a:lnTo>
                    <a:pt x="0" y="70258"/>
                  </a:lnTo>
                  <a:cubicBezTo>
                    <a:pt x="0" y="51625"/>
                    <a:pt x="7402" y="33754"/>
                    <a:pt x="20578" y="20578"/>
                  </a:cubicBezTo>
                  <a:cubicBezTo>
                    <a:pt x="33754" y="7402"/>
                    <a:pt x="51625" y="0"/>
                    <a:pt x="70258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0" y="-38100"/>
              <a:ext cx="322570" cy="178616"/>
            </a:xfrm>
            <a:prstGeom prst="rect">
              <a:avLst/>
            </a:prstGeom>
          </p:spPr>
          <p:txBody>
            <a:bodyPr lIns="40081" tIns="40081" rIns="40081" bIns="40081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2" name="TextBox 142"/>
          <p:cNvSpPr txBox="1"/>
          <p:nvPr/>
        </p:nvSpPr>
        <p:spPr>
          <a:xfrm>
            <a:off x="15964489" y="4232058"/>
            <a:ext cx="967572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Modern Outputs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5892844" y="4894393"/>
            <a:ext cx="1061769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Cloud Native Application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5917390" y="5488867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REST APIs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5880811" y="6150614"/>
            <a:ext cx="1134927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Documentation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15917389" y="6947103"/>
            <a:ext cx="1061769" cy="15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Automated Tests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5917390" y="7467626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CI/CD Pipeline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5917390" y="8126758"/>
            <a:ext cx="1061769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Modern UI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5917390" y="8805237"/>
            <a:ext cx="1061769" cy="15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sz="9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Production Ready</a:t>
            </a:r>
          </a:p>
        </p:txBody>
      </p:sp>
      <p:sp>
        <p:nvSpPr>
          <p:cNvPr id="150" name="AutoShape 150"/>
          <p:cNvSpPr/>
          <p:nvPr/>
        </p:nvSpPr>
        <p:spPr>
          <a:xfrm flipV="1">
            <a:off x="2577984" y="6693116"/>
            <a:ext cx="861314" cy="0"/>
          </a:xfrm>
          <a:prstGeom prst="line">
            <a:avLst/>
          </a:prstGeom>
          <a:ln w="19050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1" name="AutoShape 151"/>
          <p:cNvSpPr/>
          <p:nvPr/>
        </p:nvSpPr>
        <p:spPr>
          <a:xfrm flipV="1">
            <a:off x="14843683" y="6693116"/>
            <a:ext cx="861314" cy="0"/>
          </a:xfrm>
          <a:prstGeom prst="line">
            <a:avLst/>
          </a:prstGeom>
          <a:ln w="19050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2" name="TextBox 152"/>
          <p:cNvSpPr txBox="1"/>
          <p:nvPr/>
        </p:nvSpPr>
        <p:spPr>
          <a:xfrm>
            <a:off x="13482832" y="3104667"/>
            <a:ext cx="1306513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Why</a:t>
            </a: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AIForge™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3423596" y="3297302"/>
            <a:ext cx="1630296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Containerized Platform</a:t>
            </a:r>
          </a:p>
          <a:p>
            <a:pPr marL="215901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Human-in-the-loop AI</a:t>
            </a:r>
          </a:p>
          <a:p>
            <a:pPr marL="215901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Vendor Lock-in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5053892" y="3306827"/>
            <a:ext cx="2071192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Maintainable Production Code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Reusable AI Knowledge</a:t>
            </a:r>
          </a:p>
          <a:p>
            <a:pPr marL="215899" lvl="1" indent="-107950" algn="l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Enterprise-grade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74101" y="1028700"/>
            <a:ext cx="16027893" cy="824943"/>
            <a:chOff x="0" y="0"/>
            <a:chExt cx="21370524" cy="10999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47783" cy="1099924"/>
            </a:xfrm>
            <a:custGeom>
              <a:avLst/>
              <a:gdLst/>
              <a:ahLst/>
              <a:cxnLst/>
              <a:rect l="l" t="t" r="r" b="b"/>
              <a:pathLst>
                <a:path w="2347783" h="1099924">
                  <a:moveTo>
                    <a:pt x="0" y="0"/>
                  </a:moveTo>
                  <a:lnTo>
                    <a:pt x="2347783" y="0"/>
                  </a:lnTo>
                  <a:lnTo>
                    <a:pt x="2347783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321" t="-57970" r="-36277" b="-6913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9511235" y="258133"/>
              <a:ext cx="1653971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084960" y="331640"/>
              <a:ext cx="285564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82178" y="763368"/>
              <a:ext cx="5975653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7366" y="4129975"/>
            <a:ext cx="2755418" cy="1466576"/>
            <a:chOff x="0" y="0"/>
            <a:chExt cx="874641" cy="4655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35675" y="4129975"/>
            <a:ext cx="2755418" cy="1466576"/>
            <a:chOff x="0" y="0"/>
            <a:chExt cx="874641" cy="4655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7366" y="5748390"/>
            <a:ext cx="2755418" cy="1466576"/>
            <a:chOff x="0" y="0"/>
            <a:chExt cx="874641" cy="4655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35675" y="5748390"/>
            <a:ext cx="2755418" cy="1466576"/>
            <a:chOff x="0" y="0"/>
            <a:chExt cx="874641" cy="4655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7366" y="7366805"/>
            <a:ext cx="2755418" cy="1466576"/>
            <a:chOff x="0" y="0"/>
            <a:chExt cx="874641" cy="4655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735675" y="7366805"/>
            <a:ext cx="2755418" cy="1466576"/>
            <a:chOff x="0" y="0"/>
            <a:chExt cx="874641" cy="4655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796907" y="4129975"/>
            <a:ext cx="2755418" cy="1466576"/>
            <a:chOff x="0" y="0"/>
            <a:chExt cx="874641" cy="46552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765216" y="4129975"/>
            <a:ext cx="2755418" cy="1466576"/>
            <a:chOff x="0" y="0"/>
            <a:chExt cx="874641" cy="46552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796907" y="5748390"/>
            <a:ext cx="2755418" cy="1466576"/>
            <a:chOff x="0" y="0"/>
            <a:chExt cx="874641" cy="4655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765216" y="5748390"/>
            <a:ext cx="2755418" cy="1466576"/>
            <a:chOff x="0" y="0"/>
            <a:chExt cx="874641" cy="46552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796907" y="7366805"/>
            <a:ext cx="2755418" cy="1466576"/>
            <a:chOff x="0" y="0"/>
            <a:chExt cx="874641" cy="46552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765216" y="7366805"/>
            <a:ext cx="2755418" cy="1466576"/>
            <a:chOff x="0" y="0"/>
            <a:chExt cx="874641" cy="4655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74641" cy="465529"/>
            </a:xfrm>
            <a:custGeom>
              <a:avLst/>
              <a:gdLst/>
              <a:ahLst/>
              <a:cxnLst/>
              <a:rect l="l" t="t" r="r" b="b"/>
              <a:pathLst>
                <a:path w="874641" h="465529">
                  <a:moveTo>
                    <a:pt x="32926" y="0"/>
                  </a:moveTo>
                  <a:lnTo>
                    <a:pt x="841714" y="0"/>
                  </a:lnTo>
                  <a:cubicBezTo>
                    <a:pt x="859899" y="0"/>
                    <a:pt x="874641" y="14742"/>
                    <a:pt x="874641" y="32926"/>
                  </a:cubicBezTo>
                  <a:lnTo>
                    <a:pt x="874641" y="432603"/>
                  </a:lnTo>
                  <a:cubicBezTo>
                    <a:pt x="874641" y="450788"/>
                    <a:pt x="859899" y="465529"/>
                    <a:pt x="841714" y="465529"/>
                  </a:cubicBezTo>
                  <a:lnTo>
                    <a:pt x="32926" y="465529"/>
                  </a:lnTo>
                  <a:cubicBezTo>
                    <a:pt x="14742" y="465529"/>
                    <a:pt x="0" y="450788"/>
                    <a:pt x="0" y="432603"/>
                  </a:cubicBezTo>
                  <a:lnTo>
                    <a:pt x="0" y="32926"/>
                  </a:lnTo>
                  <a:cubicBezTo>
                    <a:pt x="0" y="14742"/>
                    <a:pt x="14742" y="0"/>
                    <a:pt x="32926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874641" cy="5036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6491093" y="4685062"/>
            <a:ext cx="1305196" cy="2112853"/>
          </a:xfrm>
          <a:custGeom>
            <a:avLst/>
            <a:gdLst/>
            <a:ahLst/>
            <a:cxnLst/>
            <a:rect l="l" t="t" r="r" b="b"/>
            <a:pathLst>
              <a:path w="1305196" h="2112853">
                <a:moveTo>
                  <a:pt x="0" y="0"/>
                </a:moveTo>
                <a:lnTo>
                  <a:pt x="203985" y="0"/>
                </a:lnTo>
                <a:cubicBezTo>
                  <a:pt x="258086" y="0"/>
                  <a:pt x="309970" y="21491"/>
                  <a:pt x="348224" y="59746"/>
                </a:cubicBezTo>
                <a:cubicBezTo>
                  <a:pt x="386479" y="98000"/>
                  <a:pt x="407970" y="149884"/>
                  <a:pt x="407970" y="203985"/>
                </a:cubicBezTo>
                <a:lnTo>
                  <a:pt x="407970" y="1884253"/>
                </a:lnTo>
                <a:cubicBezTo>
                  <a:pt x="407970" y="2010505"/>
                  <a:pt x="510318" y="2112853"/>
                  <a:pt x="636570" y="2112853"/>
                </a:cubicBezTo>
                <a:lnTo>
                  <a:pt x="1305196" y="2112853"/>
                </a:lnTo>
              </a:path>
            </a:pathLst>
          </a:custGeom>
          <a:ln w="9525" cap="flat">
            <a:solidFill>
              <a:srgbClr val="0E59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Freeform 52"/>
          <p:cNvSpPr/>
          <p:nvPr/>
        </p:nvSpPr>
        <p:spPr>
          <a:xfrm>
            <a:off x="6491093" y="6797915"/>
            <a:ext cx="736186" cy="1302179"/>
          </a:xfrm>
          <a:custGeom>
            <a:avLst/>
            <a:gdLst/>
            <a:ahLst/>
            <a:cxnLst/>
            <a:rect l="l" t="t" r="r" b="b"/>
            <a:pathLst>
              <a:path w="736186" h="1302179">
                <a:moveTo>
                  <a:pt x="0" y="1302178"/>
                </a:moveTo>
                <a:lnTo>
                  <a:pt x="203985" y="1302178"/>
                </a:lnTo>
                <a:cubicBezTo>
                  <a:pt x="258086" y="1302178"/>
                  <a:pt x="309970" y="1280687"/>
                  <a:pt x="348224" y="1242432"/>
                </a:cubicBezTo>
                <a:cubicBezTo>
                  <a:pt x="386479" y="1204178"/>
                  <a:pt x="407970" y="1152294"/>
                  <a:pt x="407970" y="1098193"/>
                </a:cubicBezTo>
                <a:lnTo>
                  <a:pt x="407970" y="164108"/>
                </a:lnTo>
                <a:cubicBezTo>
                  <a:pt x="407970" y="73473"/>
                  <a:pt x="481444" y="0"/>
                  <a:pt x="572079" y="0"/>
                </a:cubicBezTo>
                <a:lnTo>
                  <a:pt x="736187" y="0"/>
                </a:lnTo>
              </a:path>
            </a:pathLst>
          </a:custGeom>
          <a:ln w="9525" cap="flat">
            <a:solidFill>
              <a:srgbClr val="0E59B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" name="Group 53"/>
          <p:cNvGrpSpPr/>
          <p:nvPr/>
        </p:nvGrpSpPr>
        <p:grpSpPr>
          <a:xfrm>
            <a:off x="10573142" y="4680299"/>
            <a:ext cx="1223765" cy="3424556"/>
            <a:chOff x="0" y="0"/>
            <a:chExt cx="1631686" cy="4566075"/>
          </a:xfrm>
        </p:grpSpPr>
        <p:sp>
          <p:nvSpPr>
            <p:cNvPr id="54" name="Freeform 54"/>
            <p:cNvSpPr/>
            <p:nvPr/>
          </p:nvSpPr>
          <p:spPr>
            <a:xfrm>
              <a:off x="0" y="6350"/>
              <a:ext cx="1631686" cy="2817138"/>
            </a:xfrm>
            <a:custGeom>
              <a:avLst/>
              <a:gdLst/>
              <a:ahLst/>
              <a:cxnLst/>
              <a:rect l="l" t="t" r="r" b="b"/>
              <a:pathLst>
                <a:path w="1631686" h="2817138">
                  <a:moveTo>
                    <a:pt x="1631686" y="0"/>
                  </a:moveTo>
                  <a:lnTo>
                    <a:pt x="1395066" y="0"/>
                  </a:lnTo>
                  <a:cubicBezTo>
                    <a:pt x="1264385" y="0"/>
                    <a:pt x="1158446" y="105938"/>
                    <a:pt x="1158446" y="236620"/>
                  </a:cubicBezTo>
                  <a:lnTo>
                    <a:pt x="1158446" y="2512338"/>
                  </a:lnTo>
                  <a:cubicBezTo>
                    <a:pt x="1158446" y="2593176"/>
                    <a:pt x="1126334" y="2670703"/>
                    <a:pt x="1069173" y="2727864"/>
                  </a:cubicBezTo>
                  <a:cubicBezTo>
                    <a:pt x="1012011" y="2785025"/>
                    <a:pt x="934484" y="2817138"/>
                    <a:pt x="853646" y="2817138"/>
                  </a:cubicBezTo>
                  <a:lnTo>
                    <a:pt x="0" y="2817138"/>
                  </a:lnTo>
                </a:path>
              </a:pathLst>
            </a:custGeom>
            <a:ln w="12700" cap="flat">
              <a:solidFill>
                <a:srgbClr val="0E59B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Freeform 55"/>
            <p:cNvSpPr/>
            <p:nvPr/>
          </p:nvSpPr>
          <p:spPr>
            <a:xfrm>
              <a:off x="628010" y="2823488"/>
              <a:ext cx="1003676" cy="1736237"/>
            </a:xfrm>
            <a:custGeom>
              <a:avLst/>
              <a:gdLst/>
              <a:ahLst/>
              <a:cxnLst/>
              <a:rect l="l" t="t" r="r" b="b"/>
              <a:pathLst>
                <a:path w="1003676" h="1736237">
                  <a:moveTo>
                    <a:pt x="1003676" y="1736237"/>
                  </a:moveTo>
                  <a:lnTo>
                    <a:pt x="767056" y="1736237"/>
                  </a:lnTo>
                  <a:cubicBezTo>
                    <a:pt x="704301" y="1736237"/>
                    <a:pt x="644116" y="1711308"/>
                    <a:pt x="599741" y="1666933"/>
                  </a:cubicBezTo>
                  <a:cubicBezTo>
                    <a:pt x="555366" y="1622558"/>
                    <a:pt x="530436" y="1562373"/>
                    <a:pt x="530436" y="1499617"/>
                  </a:cubicBezTo>
                  <a:lnTo>
                    <a:pt x="530436" y="265218"/>
                  </a:lnTo>
                  <a:cubicBezTo>
                    <a:pt x="530436" y="118742"/>
                    <a:pt x="411694" y="0"/>
                    <a:pt x="265218" y="0"/>
                  </a:cubicBezTo>
                  <a:lnTo>
                    <a:pt x="0" y="0"/>
                  </a:lnTo>
                </a:path>
              </a:pathLst>
            </a:custGeom>
            <a:ln w="12700" cap="flat">
              <a:solidFill>
                <a:srgbClr val="0E59B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6" name="AutoShape 56"/>
          <p:cNvSpPr/>
          <p:nvPr/>
        </p:nvSpPr>
        <p:spPr>
          <a:xfrm>
            <a:off x="9174819" y="4260432"/>
            <a:ext cx="0" cy="215604"/>
          </a:xfrm>
          <a:prstGeom prst="line">
            <a:avLst/>
          </a:prstGeom>
          <a:ln w="9525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7" name="AutoShape 57"/>
          <p:cNvSpPr/>
          <p:nvPr/>
        </p:nvSpPr>
        <p:spPr>
          <a:xfrm>
            <a:off x="9165294" y="4801790"/>
            <a:ext cx="0" cy="215604"/>
          </a:xfrm>
          <a:prstGeom prst="line">
            <a:avLst/>
          </a:prstGeom>
          <a:ln w="9525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8" name="AutoShape 58"/>
          <p:cNvSpPr/>
          <p:nvPr/>
        </p:nvSpPr>
        <p:spPr>
          <a:xfrm>
            <a:off x="9170056" y="5343149"/>
            <a:ext cx="0" cy="215604"/>
          </a:xfrm>
          <a:prstGeom prst="line">
            <a:avLst/>
          </a:prstGeom>
          <a:ln w="9525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9" name="AutoShape 59"/>
          <p:cNvSpPr/>
          <p:nvPr/>
        </p:nvSpPr>
        <p:spPr>
          <a:xfrm>
            <a:off x="9165294" y="5884508"/>
            <a:ext cx="0" cy="215604"/>
          </a:xfrm>
          <a:prstGeom prst="line">
            <a:avLst/>
          </a:prstGeom>
          <a:ln w="9525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0" name="AutoShape 60"/>
          <p:cNvSpPr/>
          <p:nvPr/>
        </p:nvSpPr>
        <p:spPr>
          <a:xfrm flipH="1">
            <a:off x="9155769" y="6462062"/>
            <a:ext cx="0" cy="2493464"/>
          </a:xfrm>
          <a:prstGeom prst="line">
            <a:avLst/>
          </a:prstGeom>
          <a:ln w="9525" cap="flat">
            <a:solidFill>
              <a:srgbClr val="0E59B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1" name="Freeform 61"/>
          <p:cNvSpPr/>
          <p:nvPr/>
        </p:nvSpPr>
        <p:spPr>
          <a:xfrm>
            <a:off x="8668707" y="6462062"/>
            <a:ext cx="1012963" cy="1886228"/>
          </a:xfrm>
          <a:custGeom>
            <a:avLst/>
            <a:gdLst/>
            <a:ahLst/>
            <a:cxnLst/>
            <a:rect l="l" t="t" r="r" b="b"/>
            <a:pathLst>
              <a:path w="1012963" h="1886228">
                <a:moveTo>
                  <a:pt x="0" y="0"/>
                </a:moveTo>
                <a:lnTo>
                  <a:pt x="1012963" y="0"/>
                </a:lnTo>
                <a:lnTo>
                  <a:pt x="1012963" y="1886228"/>
                </a:lnTo>
                <a:lnTo>
                  <a:pt x="0" y="1886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7574" b="-61325"/>
            </a:stretch>
          </a:blipFill>
        </p:spPr>
      </p:sp>
      <p:grpSp>
        <p:nvGrpSpPr>
          <p:cNvPr id="62" name="Group 62"/>
          <p:cNvGrpSpPr/>
          <p:nvPr/>
        </p:nvGrpSpPr>
        <p:grpSpPr>
          <a:xfrm>
            <a:off x="9724252" y="6604177"/>
            <a:ext cx="639340" cy="482289"/>
            <a:chOff x="0" y="0"/>
            <a:chExt cx="202943" cy="15309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02943" cy="153091"/>
            </a:xfrm>
            <a:custGeom>
              <a:avLst/>
              <a:gdLst/>
              <a:ahLst/>
              <a:cxnLst/>
              <a:rect l="l" t="t" r="r" b="b"/>
              <a:pathLst>
                <a:path w="202943" h="153091">
                  <a:moveTo>
                    <a:pt x="76546" y="0"/>
                  </a:moveTo>
                  <a:lnTo>
                    <a:pt x="126398" y="0"/>
                  </a:lnTo>
                  <a:cubicBezTo>
                    <a:pt x="146699" y="0"/>
                    <a:pt x="166168" y="8065"/>
                    <a:pt x="180523" y="22420"/>
                  </a:cubicBezTo>
                  <a:cubicBezTo>
                    <a:pt x="194879" y="36775"/>
                    <a:pt x="202943" y="56244"/>
                    <a:pt x="202943" y="76546"/>
                  </a:cubicBezTo>
                  <a:lnTo>
                    <a:pt x="202943" y="76546"/>
                  </a:lnTo>
                  <a:cubicBezTo>
                    <a:pt x="202943" y="96847"/>
                    <a:pt x="194879" y="116316"/>
                    <a:pt x="180523" y="130671"/>
                  </a:cubicBezTo>
                  <a:cubicBezTo>
                    <a:pt x="166168" y="145027"/>
                    <a:pt x="146699" y="153091"/>
                    <a:pt x="126398" y="153091"/>
                  </a:cubicBezTo>
                  <a:lnTo>
                    <a:pt x="76546" y="153091"/>
                  </a:lnTo>
                  <a:cubicBezTo>
                    <a:pt x="56244" y="153091"/>
                    <a:pt x="36775" y="145027"/>
                    <a:pt x="22420" y="130671"/>
                  </a:cubicBezTo>
                  <a:cubicBezTo>
                    <a:pt x="8065" y="116316"/>
                    <a:pt x="0" y="96847"/>
                    <a:pt x="0" y="76546"/>
                  </a:cubicBezTo>
                  <a:lnTo>
                    <a:pt x="0" y="76546"/>
                  </a:lnTo>
                  <a:cubicBezTo>
                    <a:pt x="0" y="56244"/>
                    <a:pt x="8065" y="36775"/>
                    <a:pt x="22420" y="22420"/>
                  </a:cubicBezTo>
                  <a:cubicBezTo>
                    <a:pt x="36775" y="8065"/>
                    <a:pt x="56244" y="0"/>
                    <a:pt x="765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02943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755044" y="7214966"/>
            <a:ext cx="999299" cy="482289"/>
            <a:chOff x="0" y="0"/>
            <a:chExt cx="317203" cy="15309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17203" cy="153091"/>
            </a:xfrm>
            <a:custGeom>
              <a:avLst/>
              <a:gdLst/>
              <a:ahLst/>
              <a:cxnLst/>
              <a:rect l="l" t="t" r="r" b="b"/>
              <a:pathLst>
                <a:path w="317203" h="153091">
                  <a:moveTo>
                    <a:pt x="60526" y="0"/>
                  </a:moveTo>
                  <a:lnTo>
                    <a:pt x="256677" y="0"/>
                  </a:lnTo>
                  <a:cubicBezTo>
                    <a:pt x="290105" y="0"/>
                    <a:pt x="317203" y="27098"/>
                    <a:pt x="317203" y="60526"/>
                  </a:cubicBezTo>
                  <a:lnTo>
                    <a:pt x="317203" y="92565"/>
                  </a:lnTo>
                  <a:cubicBezTo>
                    <a:pt x="317203" y="125993"/>
                    <a:pt x="290105" y="153091"/>
                    <a:pt x="256677" y="153091"/>
                  </a:cubicBezTo>
                  <a:lnTo>
                    <a:pt x="60526" y="153091"/>
                  </a:lnTo>
                  <a:cubicBezTo>
                    <a:pt x="27098" y="153091"/>
                    <a:pt x="0" y="125993"/>
                    <a:pt x="0" y="92565"/>
                  </a:cubicBezTo>
                  <a:lnTo>
                    <a:pt x="0" y="60526"/>
                  </a:lnTo>
                  <a:cubicBezTo>
                    <a:pt x="0" y="27098"/>
                    <a:pt x="27098" y="0"/>
                    <a:pt x="6052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317203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03143" y="7903585"/>
            <a:ext cx="984588" cy="482289"/>
            <a:chOff x="0" y="0"/>
            <a:chExt cx="312534" cy="153091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12534" cy="153091"/>
            </a:xfrm>
            <a:custGeom>
              <a:avLst/>
              <a:gdLst/>
              <a:ahLst/>
              <a:cxnLst/>
              <a:rect l="l" t="t" r="r" b="b"/>
              <a:pathLst>
                <a:path w="312534" h="153091">
                  <a:moveTo>
                    <a:pt x="61431" y="0"/>
                  </a:moveTo>
                  <a:lnTo>
                    <a:pt x="251103" y="0"/>
                  </a:lnTo>
                  <a:cubicBezTo>
                    <a:pt x="267395" y="0"/>
                    <a:pt x="283021" y="6472"/>
                    <a:pt x="294541" y="17993"/>
                  </a:cubicBezTo>
                  <a:cubicBezTo>
                    <a:pt x="306061" y="29513"/>
                    <a:pt x="312534" y="45138"/>
                    <a:pt x="312534" y="61431"/>
                  </a:cubicBezTo>
                  <a:lnTo>
                    <a:pt x="312534" y="91661"/>
                  </a:lnTo>
                  <a:cubicBezTo>
                    <a:pt x="312534" y="125588"/>
                    <a:pt x="285030" y="153091"/>
                    <a:pt x="251103" y="153091"/>
                  </a:cubicBezTo>
                  <a:lnTo>
                    <a:pt x="61431" y="153091"/>
                  </a:lnTo>
                  <a:cubicBezTo>
                    <a:pt x="45138" y="153091"/>
                    <a:pt x="29513" y="146619"/>
                    <a:pt x="17993" y="135099"/>
                  </a:cubicBezTo>
                  <a:cubicBezTo>
                    <a:pt x="6472" y="123578"/>
                    <a:pt x="0" y="107953"/>
                    <a:pt x="0" y="91661"/>
                  </a:cubicBezTo>
                  <a:lnTo>
                    <a:pt x="0" y="61431"/>
                  </a:lnTo>
                  <a:cubicBezTo>
                    <a:pt x="0" y="45138"/>
                    <a:pt x="6472" y="29513"/>
                    <a:pt x="17993" y="17993"/>
                  </a:cubicBezTo>
                  <a:cubicBezTo>
                    <a:pt x="29513" y="6472"/>
                    <a:pt x="45138" y="0"/>
                    <a:pt x="6143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312534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903803" y="6604177"/>
            <a:ext cx="639340" cy="482289"/>
            <a:chOff x="0" y="0"/>
            <a:chExt cx="202943" cy="15309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02943" cy="153091"/>
            </a:xfrm>
            <a:custGeom>
              <a:avLst/>
              <a:gdLst/>
              <a:ahLst/>
              <a:cxnLst/>
              <a:rect l="l" t="t" r="r" b="b"/>
              <a:pathLst>
                <a:path w="202943" h="153091">
                  <a:moveTo>
                    <a:pt x="76546" y="0"/>
                  </a:moveTo>
                  <a:lnTo>
                    <a:pt x="126398" y="0"/>
                  </a:lnTo>
                  <a:cubicBezTo>
                    <a:pt x="146699" y="0"/>
                    <a:pt x="166168" y="8065"/>
                    <a:pt x="180523" y="22420"/>
                  </a:cubicBezTo>
                  <a:cubicBezTo>
                    <a:pt x="194879" y="36775"/>
                    <a:pt x="202943" y="56244"/>
                    <a:pt x="202943" y="76546"/>
                  </a:cubicBezTo>
                  <a:lnTo>
                    <a:pt x="202943" y="76546"/>
                  </a:lnTo>
                  <a:cubicBezTo>
                    <a:pt x="202943" y="96847"/>
                    <a:pt x="194879" y="116316"/>
                    <a:pt x="180523" y="130671"/>
                  </a:cubicBezTo>
                  <a:cubicBezTo>
                    <a:pt x="166168" y="145027"/>
                    <a:pt x="146699" y="153091"/>
                    <a:pt x="126398" y="153091"/>
                  </a:cubicBezTo>
                  <a:lnTo>
                    <a:pt x="76546" y="153091"/>
                  </a:lnTo>
                  <a:cubicBezTo>
                    <a:pt x="56244" y="153091"/>
                    <a:pt x="36775" y="145027"/>
                    <a:pt x="22420" y="130671"/>
                  </a:cubicBezTo>
                  <a:cubicBezTo>
                    <a:pt x="8065" y="116316"/>
                    <a:pt x="0" y="96847"/>
                    <a:pt x="0" y="76546"/>
                  </a:cubicBezTo>
                  <a:lnTo>
                    <a:pt x="0" y="76546"/>
                  </a:lnTo>
                  <a:cubicBezTo>
                    <a:pt x="0" y="56244"/>
                    <a:pt x="8065" y="36775"/>
                    <a:pt x="22420" y="22420"/>
                  </a:cubicBezTo>
                  <a:cubicBezTo>
                    <a:pt x="36775" y="8065"/>
                    <a:pt x="56244" y="0"/>
                    <a:pt x="7654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02943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436830" y="7214966"/>
            <a:ext cx="1106314" cy="482289"/>
            <a:chOff x="0" y="0"/>
            <a:chExt cx="351172" cy="15309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51172" cy="153091"/>
            </a:xfrm>
            <a:custGeom>
              <a:avLst/>
              <a:gdLst/>
              <a:ahLst/>
              <a:cxnLst/>
              <a:rect l="l" t="t" r="r" b="b"/>
              <a:pathLst>
                <a:path w="351172" h="153091">
                  <a:moveTo>
                    <a:pt x="54671" y="0"/>
                  </a:moveTo>
                  <a:lnTo>
                    <a:pt x="296501" y="0"/>
                  </a:lnTo>
                  <a:cubicBezTo>
                    <a:pt x="326695" y="0"/>
                    <a:pt x="351172" y="24477"/>
                    <a:pt x="351172" y="54671"/>
                  </a:cubicBezTo>
                  <a:lnTo>
                    <a:pt x="351172" y="98420"/>
                  </a:lnTo>
                  <a:cubicBezTo>
                    <a:pt x="351172" y="128614"/>
                    <a:pt x="326695" y="153091"/>
                    <a:pt x="296501" y="153091"/>
                  </a:cubicBezTo>
                  <a:lnTo>
                    <a:pt x="54671" y="153091"/>
                  </a:lnTo>
                  <a:cubicBezTo>
                    <a:pt x="24477" y="153091"/>
                    <a:pt x="0" y="128614"/>
                    <a:pt x="0" y="98420"/>
                  </a:cubicBezTo>
                  <a:lnTo>
                    <a:pt x="0" y="54671"/>
                  </a:lnTo>
                  <a:cubicBezTo>
                    <a:pt x="0" y="24477"/>
                    <a:pt x="24477" y="0"/>
                    <a:pt x="5467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351172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769665" y="7903585"/>
            <a:ext cx="1046228" cy="482289"/>
            <a:chOff x="0" y="0"/>
            <a:chExt cx="332100" cy="15309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32100" cy="153091"/>
            </a:xfrm>
            <a:custGeom>
              <a:avLst/>
              <a:gdLst/>
              <a:ahLst/>
              <a:cxnLst/>
              <a:rect l="l" t="t" r="r" b="b"/>
              <a:pathLst>
                <a:path w="332100" h="153091">
                  <a:moveTo>
                    <a:pt x="57811" y="0"/>
                  </a:moveTo>
                  <a:lnTo>
                    <a:pt x="274288" y="0"/>
                  </a:lnTo>
                  <a:cubicBezTo>
                    <a:pt x="289621" y="0"/>
                    <a:pt x="304325" y="6091"/>
                    <a:pt x="315167" y="16933"/>
                  </a:cubicBezTo>
                  <a:cubicBezTo>
                    <a:pt x="326009" y="27774"/>
                    <a:pt x="332100" y="42479"/>
                    <a:pt x="332100" y="57811"/>
                  </a:cubicBezTo>
                  <a:lnTo>
                    <a:pt x="332100" y="95280"/>
                  </a:lnTo>
                  <a:cubicBezTo>
                    <a:pt x="332100" y="110612"/>
                    <a:pt x="326009" y="125317"/>
                    <a:pt x="315167" y="136159"/>
                  </a:cubicBezTo>
                  <a:cubicBezTo>
                    <a:pt x="304325" y="147000"/>
                    <a:pt x="289621" y="153091"/>
                    <a:pt x="274288" y="153091"/>
                  </a:cubicBezTo>
                  <a:lnTo>
                    <a:pt x="57811" y="153091"/>
                  </a:lnTo>
                  <a:cubicBezTo>
                    <a:pt x="42479" y="153091"/>
                    <a:pt x="27774" y="147000"/>
                    <a:pt x="16933" y="136159"/>
                  </a:cubicBezTo>
                  <a:cubicBezTo>
                    <a:pt x="6091" y="125317"/>
                    <a:pt x="0" y="110612"/>
                    <a:pt x="0" y="95280"/>
                  </a:cubicBezTo>
                  <a:lnTo>
                    <a:pt x="0" y="57811"/>
                  </a:lnTo>
                  <a:cubicBezTo>
                    <a:pt x="0" y="42479"/>
                    <a:pt x="6091" y="27774"/>
                    <a:pt x="16933" y="16933"/>
                  </a:cubicBezTo>
                  <a:cubicBezTo>
                    <a:pt x="27774" y="6091"/>
                    <a:pt x="42479" y="0"/>
                    <a:pt x="57811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5F23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332100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421328" y="9061030"/>
            <a:ext cx="9487933" cy="482289"/>
            <a:chOff x="0" y="0"/>
            <a:chExt cx="3011715" cy="153091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011715" cy="153091"/>
            </a:xfrm>
            <a:custGeom>
              <a:avLst/>
              <a:gdLst/>
              <a:ahLst/>
              <a:cxnLst/>
              <a:rect l="l" t="t" r="r" b="b"/>
              <a:pathLst>
                <a:path w="3011715" h="153091">
                  <a:moveTo>
                    <a:pt x="12112" y="0"/>
                  </a:moveTo>
                  <a:lnTo>
                    <a:pt x="2999603" y="0"/>
                  </a:lnTo>
                  <a:cubicBezTo>
                    <a:pt x="3002815" y="0"/>
                    <a:pt x="3005896" y="1276"/>
                    <a:pt x="3008167" y="3548"/>
                  </a:cubicBezTo>
                  <a:cubicBezTo>
                    <a:pt x="3010439" y="5819"/>
                    <a:pt x="3011715" y="8900"/>
                    <a:pt x="3011715" y="12112"/>
                  </a:cubicBezTo>
                  <a:lnTo>
                    <a:pt x="3011715" y="140979"/>
                  </a:lnTo>
                  <a:cubicBezTo>
                    <a:pt x="3011715" y="147668"/>
                    <a:pt x="3006292" y="153091"/>
                    <a:pt x="2999603" y="153091"/>
                  </a:cubicBezTo>
                  <a:lnTo>
                    <a:pt x="12112" y="153091"/>
                  </a:lnTo>
                  <a:cubicBezTo>
                    <a:pt x="8900" y="153091"/>
                    <a:pt x="5819" y="151815"/>
                    <a:pt x="3548" y="149544"/>
                  </a:cubicBezTo>
                  <a:cubicBezTo>
                    <a:pt x="1276" y="147272"/>
                    <a:pt x="0" y="144191"/>
                    <a:pt x="0" y="140979"/>
                  </a:cubicBezTo>
                  <a:lnTo>
                    <a:pt x="0" y="12112"/>
                  </a:lnTo>
                  <a:cubicBezTo>
                    <a:pt x="0" y="8900"/>
                    <a:pt x="1276" y="5819"/>
                    <a:pt x="3548" y="3548"/>
                  </a:cubicBezTo>
                  <a:cubicBezTo>
                    <a:pt x="5819" y="1276"/>
                    <a:pt x="8900" y="0"/>
                    <a:pt x="1211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E59BF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3011715" cy="191191"/>
            </a:xfrm>
            <a:prstGeom prst="rect">
              <a:avLst/>
            </a:prstGeom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3" name="Freeform 83"/>
          <p:cNvSpPr/>
          <p:nvPr/>
        </p:nvSpPr>
        <p:spPr>
          <a:xfrm>
            <a:off x="1028700" y="4368512"/>
            <a:ext cx="427078" cy="303226"/>
          </a:xfrm>
          <a:custGeom>
            <a:avLst/>
            <a:gdLst/>
            <a:ahLst/>
            <a:cxnLst/>
            <a:rect l="l" t="t" r="r" b="b"/>
            <a:pathLst>
              <a:path w="427078" h="303226">
                <a:moveTo>
                  <a:pt x="0" y="0"/>
                </a:moveTo>
                <a:lnTo>
                  <a:pt x="427078" y="0"/>
                </a:lnTo>
                <a:lnTo>
                  <a:pt x="427078" y="303226"/>
                </a:lnTo>
                <a:lnTo>
                  <a:pt x="0" y="303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4073064" y="4324423"/>
            <a:ext cx="365772" cy="415651"/>
          </a:xfrm>
          <a:custGeom>
            <a:avLst/>
            <a:gdLst/>
            <a:ahLst/>
            <a:cxnLst/>
            <a:rect l="l" t="t" r="r" b="b"/>
            <a:pathLst>
              <a:path w="365772" h="415651">
                <a:moveTo>
                  <a:pt x="0" y="0"/>
                </a:moveTo>
                <a:lnTo>
                  <a:pt x="365772" y="0"/>
                </a:lnTo>
                <a:lnTo>
                  <a:pt x="365772" y="415650"/>
                </a:lnTo>
                <a:lnTo>
                  <a:pt x="0" y="415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5" name="Freeform 85"/>
          <p:cNvSpPr/>
          <p:nvPr/>
        </p:nvSpPr>
        <p:spPr>
          <a:xfrm>
            <a:off x="4085456" y="5945441"/>
            <a:ext cx="403181" cy="415651"/>
          </a:xfrm>
          <a:custGeom>
            <a:avLst/>
            <a:gdLst/>
            <a:ahLst/>
            <a:cxnLst/>
            <a:rect l="l" t="t" r="r" b="b"/>
            <a:pathLst>
              <a:path w="403181" h="415651">
                <a:moveTo>
                  <a:pt x="0" y="0"/>
                </a:moveTo>
                <a:lnTo>
                  <a:pt x="403181" y="0"/>
                </a:lnTo>
                <a:lnTo>
                  <a:pt x="403181" y="415651"/>
                </a:lnTo>
                <a:lnTo>
                  <a:pt x="0" y="415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86"/>
          <p:cNvSpPr/>
          <p:nvPr/>
        </p:nvSpPr>
        <p:spPr>
          <a:xfrm>
            <a:off x="4037495" y="7600894"/>
            <a:ext cx="451142" cy="381215"/>
          </a:xfrm>
          <a:custGeom>
            <a:avLst/>
            <a:gdLst/>
            <a:ahLst/>
            <a:cxnLst/>
            <a:rect l="l" t="t" r="r" b="b"/>
            <a:pathLst>
              <a:path w="451142" h="381215">
                <a:moveTo>
                  <a:pt x="0" y="0"/>
                </a:moveTo>
                <a:lnTo>
                  <a:pt x="451142" y="0"/>
                </a:lnTo>
                <a:lnTo>
                  <a:pt x="451142" y="381216"/>
                </a:lnTo>
                <a:lnTo>
                  <a:pt x="0" y="381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87"/>
          <p:cNvSpPr/>
          <p:nvPr/>
        </p:nvSpPr>
        <p:spPr>
          <a:xfrm>
            <a:off x="1074101" y="5945441"/>
            <a:ext cx="332521" cy="415651"/>
          </a:xfrm>
          <a:custGeom>
            <a:avLst/>
            <a:gdLst/>
            <a:ahLst/>
            <a:cxnLst/>
            <a:rect l="l" t="t" r="r" b="b"/>
            <a:pathLst>
              <a:path w="332521" h="415651">
                <a:moveTo>
                  <a:pt x="0" y="0"/>
                </a:moveTo>
                <a:lnTo>
                  <a:pt x="332521" y="0"/>
                </a:lnTo>
                <a:lnTo>
                  <a:pt x="332521" y="415651"/>
                </a:lnTo>
                <a:lnTo>
                  <a:pt x="0" y="415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8" name="Freeform 88"/>
          <p:cNvSpPr/>
          <p:nvPr/>
        </p:nvSpPr>
        <p:spPr>
          <a:xfrm>
            <a:off x="1074101" y="7600894"/>
            <a:ext cx="358918" cy="335589"/>
          </a:xfrm>
          <a:custGeom>
            <a:avLst/>
            <a:gdLst/>
            <a:ahLst/>
            <a:cxnLst/>
            <a:rect l="l" t="t" r="r" b="b"/>
            <a:pathLst>
              <a:path w="358918" h="335589">
                <a:moveTo>
                  <a:pt x="0" y="0"/>
                </a:moveTo>
                <a:lnTo>
                  <a:pt x="358919" y="0"/>
                </a:lnTo>
                <a:lnTo>
                  <a:pt x="358919" y="335589"/>
                </a:lnTo>
                <a:lnTo>
                  <a:pt x="0" y="335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9" name="Freeform 89"/>
          <p:cNvSpPr/>
          <p:nvPr/>
        </p:nvSpPr>
        <p:spPr>
          <a:xfrm>
            <a:off x="8078960" y="6659277"/>
            <a:ext cx="289026" cy="346139"/>
          </a:xfrm>
          <a:custGeom>
            <a:avLst/>
            <a:gdLst/>
            <a:ahLst/>
            <a:cxnLst/>
            <a:rect l="l" t="t" r="r" b="b"/>
            <a:pathLst>
              <a:path w="289026" h="346139">
                <a:moveTo>
                  <a:pt x="0" y="0"/>
                </a:moveTo>
                <a:lnTo>
                  <a:pt x="289026" y="0"/>
                </a:lnTo>
                <a:lnTo>
                  <a:pt x="289026" y="346139"/>
                </a:lnTo>
                <a:lnTo>
                  <a:pt x="0" y="346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0" name="Freeform 90"/>
          <p:cNvSpPr/>
          <p:nvPr/>
        </p:nvSpPr>
        <p:spPr>
          <a:xfrm>
            <a:off x="9862697" y="6659277"/>
            <a:ext cx="362449" cy="346139"/>
          </a:xfrm>
          <a:custGeom>
            <a:avLst/>
            <a:gdLst/>
            <a:ahLst/>
            <a:cxnLst/>
            <a:rect l="l" t="t" r="r" b="b"/>
            <a:pathLst>
              <a:path w="362449" h="346139">
                <a:moveTo>
                  <a:pt x="0" y="0"/>
                </a:moveTo>
                <a:lnTo>
                  <a:pt x="362449" y="0"/>
                </a:lnTo>
                <a:lnTo>
                  <a:pt x="362449" y="346139"/>
                </a:lnTo>
                <a:lnTo>
                  <a:pt x="0" y="346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12112200" y="4339805"/>
            <a:ext cx="340494" cy="340494"/>
          </a:xfrm>
          <a:custGeom>
            <a:avLst/>
            <a:gdLst/>
            <a:ahLst/>
            <a:cxnLst/>
            <a:rect l="l" t="t" r="r" b="b"/>
            <a:pathLst>
              <a:path w="340494" h="340494">
                <a:moveTo>
                  <a:pt x="0" y="0"/>
                </a:moveTo>
                <a:lnTo>
                  <a:pt x="340494" y="0"/>
                </a:lnTo>
                <a:lnTo>
                  <a:pt x="340494" y="340494"/>
                </a:lnTo>
                <a:lnTo>
                  <a:pt x="0" y="340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2" name="Freeform 92"/>
          <p:cNvSpPr/>
          <p:nvPr/>
        </p:nvSpPr>
        <p:spPr>
          <a:xfrm>
            <a:off x="15082899" y="4324423"/>
            <a:ext cx="415493" cy="376021"/>
          </a:xfrm>
          <a:custGeom>
            <a:avLst/>
            <a:gdLst/>
            <a:ahLst/>
            <a:cxnLst/>
            <a:rect l="l" t="t" r="r" b="b"/>
            <a:pathLst>
              <a:path w="415493" h="376021">
                <a:moveTo>
                  <a:pt x="0" y="0"/>
                </a:moveTo>
                <a:lnTo>
                  <a:pt x="415493" y="0"/>
                </a:lnTo>
                <a:lnTo>
                  <a:pt x="415493" y="376021"/>
                </a:lnTo>
                <a:lnTo>
                  <a:pt x="0" y="3760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3" name="Freeform 93"/>
          <p:cNvSpPr/>
          <p:nvPr/>
        </p:nvSpPr>
        <p:spPr>
          <a:xfrm>
            <a:off x="12103004" y="5958502"/>
            <a:ext cx="401981" cy="375852"/>
          </a:xfrm>
          <a:custGeom>
            <a:avLst/>
            <a:gdLst/>
            <a:ahLst/>
            <a:cxnLst/>
            <a:rect l="l" t="t" r="r" b="b"/>
            <a:pathLst>
              <a:path w="401981" h="375852">
                <a:moveTo>
                  <a:pt x="0" y="0"/>
                </a:moveTo>
                <a:lnTo>
                  <a:pt x="401981" y="0"/>
                </a:lnTo>
                <a:lnTo>
                  <a:pt x="401981" y="375852"/>
                </a:lnTo>
                <a:lnTo>
                  <a:pt x="0" y="375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94" name="Freeform 94"/>
          <p:cNvSpPr/>
          <p:nvPr/>
        </p:nvSpPr>
        <p:spPr>
          <a:xfrm>
            <a:off x="15032278" y="5977807"/>
            <a:ext cx="516734" cy="356546"/>
          </a:xfrm>
          <a:custGeom>
            <a:avLst/>
            <a:gdLst/>
            <a:ahLst/>
            <a:cxnLst/>
            <a:rect l="l" t="t" r="r" b="b"/>
            <a:pathLst>
              <a:path w="516734" h="356546">
                <a:moveTo>
                  <a:pt x="0" y="0"/>
                </a:moveTo>
                <a:lnTo>
                  <a:pt x="516734" y="0"/>
                </a:lnTo>
                <a:lnTo>
                  <a:pt x="516734" y="356547"/>
                </a:lnTo>
                <a:lnTo>
                  <a:pt x="0" y="35654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95" name="Freeform 95"/>
          <p:cNvSpPr/>
          <p:nvPr/>
        </p:nvSpPr>
        <p:spPr>
          <a:xfrm>
            <a:off x="12103004" y="7546500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15082899" y="7538819"/>
            <a:ext cx="381230" cy="443291"/>
          </a:xfrm>
          <a:custGeom>
            <a:avLst/>
            <a:gdLst/>
            <a:ahLst/>
            <a:cxnLst/>
            <a:rect l="l" t="t" r="r" b="b"/>
            <a:pathLst>
              <a:path w="381230" h="443291">
                <a:moveTo>
                  <a:pt x="0" y="0"/>
                </a:moveTo>
                <a:lnTo>
                  <a:pt x="381230" y="0"/>
                </a:lnTo>
                <a:lnTo>
                  <a:pt x="381230" y="443291"/>
                </a:lnTo>
                <a:lnTo>
                  <a:pt x="0" y="44329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97" name="TextBox 97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28700" y="2002708"/>
            <a:ext cx="1376064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The Need for Intelligent Modernization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28700" y="2828860"/>
            <a:ext cx="12109291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Modern enterprise transformation requires more than code migration. 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Organizations need intelligent analysis, automation, and governance to modernize successfully.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617640" y="3670870"/>
            <a:ext cx="423607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Traditional Modernization Challenges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2056964" y="3670870"/>
            <a:ext cx="520233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 Why Intelligent Modernization Matters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757769" y="3925152"/>
            <a:ext cx="277246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Legacy Enterprise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823079" y="4466511"/>
            <a:ext cx="277246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Business Logic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796290" y="5007869"/>
            <a:ext cx="277246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Dependencies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796290" y="5549228"/>
            <a:ext cx="277246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Architecture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779063" y="6085873"/>
            <a:ext cx="277246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Knowledge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818164" y="9129773"/>
            <a:ext cx="867521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Traditional Modernization</a:t>
            </a:r>
            <a:r>
              <a:rPr lang="en-US" sz="18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 I</a:t>
            </a: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 Intelligent Modernization </a:t>
            </a:r>
            <a:r>
              <a:rPr lang="en-US" sz="18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sz="1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 AI-Driven Modernization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553930" y="4295848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Manual Code Analysis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74101" y="4834689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Requires significant engineering effort.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576838" y="4251759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Knowledge Dependency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042411" y="4834689"/>
            <a:ext cx="2448682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Critical business logic exists only in SME knowledge.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553930" y="5916866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Fragmented Documentation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74101" y="6455707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Incomplete or outdated system documentation.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576838" y="5916866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Complex Dependencies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042411" y="6453103"/>
            <a:ext cx="2324857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Applications, databases, and integrations are tightly coupled.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553930" y="7493795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Slow Modernization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074101" y="8076725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Traditional approaches take months or years.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576838" y="7493795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High </a:t>
            </a:r>
          </a:p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Project Risk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042411" y="8076725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Unexpected complexity increases delivery risk.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2637430" y="4284900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Understand Business Logic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2112200" y="4834689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Automatically discover application behaviour.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5605740" y="4251759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Reveal Hidden Dependencies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5071313" y="4834689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Map relationships across systems.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2637430" y="5872777"/>
            <a:ext cx="127183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Reduce Manual Effort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2103004" y="6455707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Automate repetitive modernization activities.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5605740" y="5872777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Improve Delivery Confidence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15071313" y="6455707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Support governance through transparency.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2637430" y="7493795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Accelerate Decision Making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2103004" y="8076725"/>
            <a:ext cx="2141946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Provide better modernization insights.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5605740" y="7493795"/>
            <a:ext cx="160752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Prepare for Cloud Transformation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5071313" y="8076725"/>
            <a:ext cx="2339161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Create a foundation for cloud-native modernization.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471929" y="7233226"/>
            <a:ext cx="1036114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Disconnected Systems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7803527" y="7917975"/>
            <a:ext cx="984588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Hidden Relationships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755044" y="7215904"/>
            <a:ext cx="984588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Complex Integrations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703143" y="7921845"/>
            <a:ext cx="984588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Technical Debt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28700" y="1028700"/>
            <a:ext cx="16073295" cy="824943"/>
            <a:chOff x="0" y="0"/>
            <a:chExt cx="21431060" cy="10999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54433" cy="1099924"/>
            </a:xfrm>
            <a:custGeom>
              <a:avLst/>
              <a:gdLst/>
              <a:ahLst/>
              <a:cxnLst/>
              <a:rect l="l" t="t" r="r" b="b"/>
              <a:pathLst>
                <a:path w="2354433" h="1099924">
                  <a:moveTo>
                    <a:pt x="0" y="0"/>
                  </a:moveTo>
                  <a:lnTo>
                    <a:pt x="2354433" y="0"/>
                  </a:lnTo>
                  <a:lnTo>
                    <a:pt x="2354433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14" t="-57970" r="-36034" b="-6913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9566504" y="258133"/>
              <a:ext cx="165865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144686" y="331640"/>
              <a:ext cx="286373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25750" y="763368"/>
              <a:ext cx="5992580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grpSp>
        <p:nvGrpSpPr>
          <p:cNvPr id="15" name="Group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28700" y="3715734"/>
            <a:ext cx="8812595" cy="5773928"/>
            <a:chOff x="0" y="0"/>
            <a:chExt cx="11750127" cy="769857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1750127" cy="7698570"/>
              <a:chOff x="0" y="0"/>
              <a:chExt cx="635000" cy="41604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" cy="416046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6046">
                    <a:moveTo>
                      <a:pt x="19217" y="0"/>
                    </a:moveTo>
                    <a:lnTo>
                      <a:pt x="615783" y="0"/>
                    </a:lnTo>
                    <a:cubicBezTo>
                      <a:pt x="620879" y="0"/>
                      <a:pt x="625767" y="2025"/>
                      <a:pt x="629371" y="5629"/>
                    </a:cubicBezTo>
                    <a:cubicBezTo>
                      <a:pt x="632975" y="9233"/>
                      <a:pt x="635000" y="14121"/>
                      <a:pt x="635000" y="19217"/>
                    </a:cubicBezTo>
                    <a:lnTo>
                      <a:pt x="635000" y="396829"/>
                    </a:lnTo>
                    <a:cubicBezTo>
                      <a:pt x="635000" y="407442"/>
                      <a:pt x="626396" y="416046"/>
                      <a:pt x="615783" y="416046"/>
                    </a:cubicBezTo>
                    <a:lnTo>
                      <a:pt x="19217" y="416046"/>
                    </a:lnTo>
                    <a:cubicBezTo>
                      <a:pt x="14121" y="416046"/>
                      <a:pt x="9233" y="414021"/>
                      <a:pt x="5629" y="410417"/>
                    </a:cubicBezTo>
                    <a:cubicBezTo>
                      <a:pt x="2025" y="406813"/>
                      <a:pt x="0" y="401925"/>
                      <a:pt x="0" y="396829"/>
                    </a:cubicBezTo>
                    <a:lnTo>
                      <a:pt x="0" y="19217"/>
                    </a:lnTo>
                    <a:cubicBezTo>
                      <a:pt x="0" y="14121"/>
                      <a:pt x="2025" y="9233"/>
                      <a:pt x="5629" y="5629"/>
                    </a:cubicBezTo>
                    <a:cubicBezTo>
                      <a:pt x="9233" y="2025"/>
                      <a:pt x="14121" y="0"/>
                      <a:pt x="19217" y="0"/>
                    </a:cubicBezTo>
                    <a:close/>
                  </a:path>
                </a:pathLst>
              </a:custGeom>
              <a:solidFill>
                <a:srgbClr val="F9F9F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35000" cy="4541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0" y="123864"/>
              <a:ext cx="11625078" cy="7370233"/>
            </a:xfrm>
            <a:custGeom>
              <a:avLst/>
              <a:gdLst/>
              <a:ahLst/>
              <a:cxnLst/>
              <a:rect l="l" t="t" r="r" b="b"/>
              <a:pathLst>
                <a:path w="11625078" h="7370233">
                  <a:moveTo>
                    <a:pt x="0" y="0"/>
                  </a:moveTo>
                  <a:lnTo>
                    <a:pt x="11625078" y="0"/>
                  </a:lnTo>
                  <a:lnTo>
                    <a:pt x="11625078" y="7370233"/>
                  </a:lnTo>
                  <a:lnTo>
                    <a:pt x="0" y="7370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0093" r="-75819" b="-2462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225439" y="3715734"/>
            <a:ext cx="1975439" cy="1816219"/>
            <a:chOff x="0" y="0"/>
            <a:chExt cx="627055" cy="5765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5927" y="0"/>
                  </a:moveTo>
                  <a:lnTo>
                    <a:pt x="581128" y="0"/>
                  </a:lnTo>
                  <a:cubicBezTo>
                    <a:pt x="593309" y="0"/>
                    <a:pt x="604991" y="4839"/>
                    <a:pt x="613604" y="13452"/>
                  </a:cubicBezTo>
                  <a:cubicBezTo>
                    <a:pt x="622216" y="22065"/>
                    <a:pt x="627055" y="33746"/>
                    <a:pt x="627055" y="45927"/>
                  </a:cubicBezTo>
                  <a:lnTo>
                    <a:pt x="627055" y="530588"/>
                  </a:lnTo>
                  <a:cubicBezTo>
                    <a:pt x="627055" y="542769"/>
                    <a:pt x="622216" y="554450"/>
                    <a:pt x="613604" y="563063"/>
                  </a:cubicBezTo>
                  <a:cubicBezTo>
                    <a:pt x="604991" y="571676"/>
                    <a:pt x="593309" y="576515"/>
                    <a:pt x="581128" y="576515"/>
                  </a:cubicBezTo>
                  <a:lnTo>
                    <a:pt x="45927" y="576515"/>
                  </a:lnTo>
                  <a:cubicBezTo>
                    <a:pt x="33746" y="576515"/>
                    <a:pt x="22065" y="571676"/>
                    <a:pt x="13452" y="563063"/>
                  </a:cubicBezTo>
                  <a:cubicBezTo>
                    <a:pt x="4839" y="554450"/>
                    <a:pt x="0" y="542769"/>
                    <a:pt x="0" y="530588"/>
                  </a:cubicBezTo>
                  <a:lnTo>
                    <a:pt x="0" y="45927"/>
                  </a:lnTo>
                  <a:cubicBezTo>
                    <a:pt x="0" y="33746"/>
                    <a:pt x="4839" y="22065"/>
                    <a:pt x="13452" y="13452"/>
                  </a:cubicBezTo>
                  <a:cubicBezTo>
                    <a:pt x="22065" y="4839"/>
                    <a:pt x="33746" y="0"/>
                    <a:pt x="45927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85464" y="3715734"/>
            <a:ext cx="1975439" cy="1816219"/>
            <a:chOff x="0" y="0"/>
            <a:chExt cx="627055" cy="5765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5927" y="0"/>
                  </a:moveTo>
                  <a:lnTo>
                    <a:pt x="581128" y="0"/>
                  </a:lnTo>
                  <a:cubicBezTo>
                    <a:pt x="593309" y="0"/>
                    <a:pt x="604991" y="4839"/>
                    <a:pt x="613604" y="13452"/>
                  </a:cubicBezTo>
                  <a:cubicBezTo>
                    <a:pt x="622216" y="22065"/>
                    <a:pt x="627055" y="33746"/>
                    <a:pt x="627055" y="45927"/>
                  </a:cubicBezTo>
                  <a:lnTo>
                    <a:pt x="627055" y="530588"/>
                  </a:lnTo>
                  <a:cubicBezTo>
                    <a:pt x="627055" y="542769"/>
                    <a:pt x="622216" y="554450"/>
                    <a:pt x="613604" y="563063"/>
                  </a:cubicBezTo>
                  <a:cubicBezTo>
                    <a:pt x="604991" y="571676"/>
                    <a:pt x="593309" y="576515"/>
                    <a:pt x="581128" y="576515"/>
                  </a:cubicBezTo>
                  <a:lnTo>
                    <a:pt x="45927" y="576515"/>
                  </a:lnTo>
                  <a:cubicBezTo>
                    <a:pt x="33746" y="576515"/>
                    <a:pt x="22065" y="571676"/>
                    <a:pt x="13452" y="563063"/>
                  </a:cubicBezTo>
                  <a:cubicBezTo>
                    <a:pt x="4839" y="554450"/>
                    <a:pt x="0" y="542769"/>
                    <a:pt x="0" y="530588"/>
                  </a:cubicBezTo>
                  <a:lnTo>
                    <a:pt x="0" y="45927"/>
                  </a:lnTo>
                  <a:cubicBezTo>
                    <a:pt x="0" y="33746"/>
                    <a:pt x="4839" y="22065"/>
                    <a:pt x="13452" y="13452"/>
                  </a:cubicBezTo>
                  <a:cubicBezTo>
                    <a:pt x="22065" y="4839"/>
                    <a:pt x="33746" y="0"/>
                    <a:pt x="45927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545489" y="3715734"/>
            <a:ext cx="1975439" cy="1816219"/>
            <a:chOff x="0" y="0"/>
            <a:chExt cx="627055" cy="5765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5927" y="0"/>
                  </a:moveTo>
                  <a:lnTo>
                    <a:pt x="581128" y="0"/>
                  </a:lnTo>
                  <a:cubicBezTo>
                    <a:pt x="593309" y="0"/>
                    <a:pt x="604991" y="4839"/>
                    <a:pt x="613604" y="13452"/>
                  </a:cubicBezTo>
                  <a:cubicBezTo>
                    <a:pt x="622216" y="22065"/>
                    <a:pt x="627055" y="33746"/>
                    <a:pt x="627055" y="45927"/>
                  </a:cubicBezTo>
                  <a:lnTo>
                    <a:pt x="627055" y="530588"/>
                  </a:lnTo>
                  <a:cubicBezTo>
                    <a:pt x="627055" y="542769"/>
                    <a:pt x="622216" y="554450"/>
                    <a:pt x="613604" y="563063"/>
                  </a:cubicBezTo>
                  <a:cubicBezTo>
                    <a:pt x="604991" y="571676"/>
                    <a:pt x="593309" y="576515"/>
                    <a:pt x="581128" y="576515"/>
                  </a:cubicBezTo>
                  <a:lnTo>
                    <a:pt x="45927" y="576515"/>
                  </a:lnTo>
                  <a:cubicBezTo>
                    <a:pt x="33746" y="576515"/>
                    <a:pt x="22065" y="571676"/>
                    <a:pt x="13452" y="563063"/>
                  </a:cubicBezTo>
                  <a:cubicBezTo>
                    <a:pt x="4839" y="554450"/>
                    <a:pt x="0" y="542769"/>
                    <a:pt x="0" y="530588"/>
                  </a:cubicBezTo>
                  <a:lnTo>
                    <a:pt x="0" y="45927"/>
                  </a:lnTo>
                  <a:cubicBezTo>
                    <a:pt x="0" y="33746"/>
                    <a:pt x="4839" y="22065"/>
                    <a:pt x="13452" y="13452"/>
                  </a:cubicBezTo>
                  <a:cubicBezTo>
                    <a:pt x="22065" y="4839"/>
                    <a:pt x="33746" y="0"/>
                    <a:pt x="45927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25439" y="5695298"/>
            <a:ext cx="1975439" cy="1816219"/>
            <a:chOff x="0" y="0"/>
            <a:chExt cx="627055" cy="57651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5927" y="0"/>
                  </a:moveTo>
                  <a:lnTo>
                    <a:pt x="581128" y="0"/>
                  </a:lnTo>
                  <a:cubicBezTo>
                    <a:pt x="593309" y="0"/>
                    <a:pt x="604991" y="4839"/>
                    <a:pt x="613604" y="13452"/>
                  </a:cubicBezTo>
                  <a:cubicBezTo>
                    <a:pt x="622216" y="22065"/>
                    <a:pt x="627055" y="33746"/>
                    <a:pt x="627055" y="45927"/>
                  </a:cubicBezTo>
                  <a:lnTo>
                    <a:pt x="627055" y="530588"/>
                  </a:lnTo>
                  <a:cubicBezTo>
                    <a:pt x="627055" y="542769"/>
                    <a:pt x="622216" y="554450"/>
                    <a:pt x="613604" y="563063"/>
                  </a:cubicBezTo>
                  <a:cubicBezTo>
                    <a:pt x="604991" y="571676"/>
                    <a:pt x="593309" y="576515"/>
                    <a:pt x="581128" y="576515"/>
                  </a:cubicBezTo>
                  <a:lnTo>
                    <a:pt x="45927" y="576515"/>
                  </a:lnTo>
                  <a:cubicBezTo>
                    <a:pt x="33746" y="576515"/>
                    <a:pt x="22065" y="571676"/>
                    <a:pt x="13452" y="563063"/>
                  </a:cubicBezTo>
                  <a:cubicBezTo>
                    <a:pt x="4839" y="554450"/>
                    <a:pt x="0" y="542769"/>
                    <a:pt x="0" y="530588"/>
                  </a:cubicBezTo>
                  <a:lnTo>
                    <a:pt x="0" y="45927"/>
                  </a:lnTo>
                  <a:cubicBezTo>
                    <a:pt x="0" y="33746"/>
                    <a:pt x="4839" y="22065"/>
                    <a:pt x="13452" y="13452"/>
                  </a:cubicBezTo>
                  <a:cubicBezTo>
                    <a:pt x="22065" y="4839"/>
                    <a:pt x="33746" y="0"/>
                    <a:pt x="45927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85464" y="5695298"/>
            <a:ext cx="1975439" cy="1816219"/>
            <a:chOff x="0" y="0"/>
            <a:chExt cx="627055" cy="57651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5927" y="0"/>
                  </a:moveTo>
                  <a:lnTo>
                    <a:pt x="581128" y="0"/>
                  </a:lnTo>
                  <a:cubicBezTo>
                    <a:pt x="593309" y="0"/>
                    <a:pt x="604991" y="4839"/>
                    <a:pt x="613604" y="13452"/>
                  </a:cubicBezTo>
                  <a:cubicBezTo>
                    <a:pt x="622216" y="22065"/>
                    <a:pt x="627055" y="33746"/>
                    <a:pt x="627055" y="45927"/>
                  </a:cubicBezTo>
                  <a:lnTo>
                    <a:pt x="627055" y="530588"/>
                  </a:lnTo>
                  <a:cubicBezTo>
                    <a:pt x="627055" y="542769"/>
                    <a:pt x="622216" y="554450"/>
                    <a:pt x="613604" y="563063"/>
                  </a:cubicBezTo>
                  <a:cubicBezTo>
                    <a:pt x="604991" y="571676"/>
                    <a:pt x="593309" y="576515"/>
                    <a:pt x="581128" y="576515"/>
                  </a:cubicBezTo>
                  <a:lnTo>
                    <a:pt x="45927" y="576515"/>
                  </a:lnTo>
                  <a:cubicBezTo>
                    <a:pt x="33746" y="576515"/>
                    <a:pt x="22065" y="571676"/>
                    <a:pt x="13452" y="563063"/>
                  </a:cubicBezTo>
                  <a:cubicBezTo>
                    <a:pt x="4839" y="554450"/>
                    <a:pt x="0" y="542769"/>
                    <a:pt x="0" y="530588"/>
                  </a:cubicBezTo>
                  <a:lnTo>
                    <a:pt x="0" y="45927"/>
                  </a:lnTo>
                  <a:cubicBezTo>
                    <a:pt x="0" y="33746"/>
                    <a:pt x="4839" y="22065"/>
                    <a:pt x="13452" y="13452"/>
                  </a:cubicBezTo>
                  <a:cubicBezTo>
                    <a:pt x="22065" y="4839"/>
                    <a:pt x="33746" y="0"/>
                    <a:pt x="45927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545489" y="5695298"/>
            <a:ext cx="1975439" cy="1816219"/>
            <a:chOff x="0" y="0"/>
            <a:chExt cx="627055" cy="57651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7055" cy="576515"/>
            </a:xfrm>
            <a:custGeom>
              <a:avLst/>
              <a:gdLst/>
              <a:ahLst/>
              <a:cxnLst/>
              <a:rect l="l" t="t" r="r" b="b"/>
              <a:pathLst>
                <a:path w="627055" h="576515">
                  <a:moveTo>
                    <a:pt x="45927" y="0"/>
                  </a:moveTo>
                  <a:lnTo>
                    <a:pt x="581128" y="0"/>
                  </a:lnTo>
                  <a:cubicBezTo>
                    <a:pt x="593309" y="0"/>
                    <a:pt x="604991" y="4839"/>
                    <a:pt x="613604" y="13452"/>
                  </a:cubicBezTo>
                  <a:cubicBezTo>
                    <a:pt x="622216" y="22065"/>
                    <a:pt x="627055" y="33746"/>
                    <a:pt x="627055" y="45927"/>
                  </a:cubicBezTo>
                  <a:lnTo>
                    <a:pt x="627055" y="530588"/>
                  </a:lnTo>
                  <a:cubicBezTo>
                    <a:pt x="627055" y="542769"/>
                    <a:pt x="622216" y="554450"/>
                    <a:pt x="613604" y="563063"/>
                  </a:cubicBezTo>
                  <a:cubicBezTo>
                    <a:pt x="604991" y="571676"/>
                    <a:pt x="593309" y="576515"/>
                    <a:pt x="581128" y="576515"/>
                  </a:cubicBezTo>
                  <a:lnTo>
                    <a:pt x="45927" y="576515"/>
                  </a:lnTo>
                  <a:cubicBezTo>
                    <a:pt x="33746" y="576515"/>
                    <a:pt x="22065" y="571676"/>
                    <a:pt x="13452" y="563063"/>
                  </a:cubicBezTo>
                  <a:cubicBezTo>
                    <a:pt x="4839" y="554450"/>
                    <a:pt x="0" y="542769"/>
                    <a:pt x="0" y="530588"/>
                  </a:cubicBezTo>
                  <a:lnTo>
                    <a:pt x="0" y="45927"/>
                  </a:lnTo>
                  <a:cubicBezTo>
                    <a:pt x="0" y="33746"/>
                    <a:pt x="4839" y="22065"/>
                    <a:pt x="13452" y="13452"/>
                  </a:cubicBezTo>
                  <a:cubicBezTo>
                    <a:pt x="22065" y="4839"/>
                    <a:pt x="33746" y="0"/>
                    <a:pt x="45927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27055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25439" y="7673442"/>
            <a:ext cx="3565748" cy="1816219"/>
            <a:chOff x="0" y="0"/>
            <a:chExt cx="1131861" cy="57651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1861" cy="576515"/>
            </a:xfrm>
            <a:custGeom>
              <a:avLst/>
              <a:gdLst/>
              <a:ahLst/>
              <a:cxnLst/>
              <a:rect l="l" t="t" r="r" b="b"/>
              <a:pathLst>
                <a:path w="1131861" h="576515">
                  <a:moveTo>
                    <a:pt x="25444" y="0"/>
                  </a:moveTo>
                  <a:lnTo>
                    <a:pt x="1106417" y="0"/>
                  </a:lnTo>
                  <a:cubicBezTo>
                    <a:pt x="1120469" y="0"/>
                    <a:pt x="1131861" y="11392"/>
                    <a:pt x="1131861" y="25444"/>
                  </a:cubicBezTo>
                  <a:lnTo>
                    <a:pt x="1131861" y="551071"/>
                  </a:lnTo>
                  <a:cubicBezTo>
                    <a:pt x="1131861" y="565123"/>
                    <a:pt x="1120469" y="576515"/>
                    <a:pt x="1106417" y="576515"/>
                  </a:cubicBezTo>
                  <a:lnTo>
                    <a:pt x="25444" y="576515"/>
                  </a:lnTo>
                  <a:cubicBezTo>
                    <a:pt x="11392" y="576515"/>
                    <a:pt x="0" y="565123"/>
                    <a:pt x="0" y="551071"/>
                  </a:cubicBezTo>
                  <a:lnTo>
                    <a:pt x="0" y="25444"/>
                  </a:lnTo>
                  <a:cubicBezTo>
                    <a:pt x="0" y="11392"/>
                    <a:pt x="11392" y="0"/>
                    <a:pt x="25444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131861" cy="614615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1" name="Group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923751" y="7739760"/>
            <a:ext cx="2597176" cy="1749902"/>
            <a:chOff x="0" y="0"/>
            <a:chExt cx="3462902" cy="233320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62902" cy="2333202"/>
            </a:xfrm>
            <a:custGeom>
              <a:avLst/>
              <a:gdLst/>
              <a:ahLst/>
              <a:cxnLst/>
              <a:rect l="l" t="t" r="r" b="b"/>
              <a:pathLst>
                <a:path w="3462902" h="2333202">
                  <a:moveTo>
                    <a:pt x="0" y="0"/>
                  </a:moveTo>
                  <a:lnTo>
                    <a:pt x="3462902" y="0"/>
                  </a:lnTo>
                  <a:lnTo>
                    <a:pt x="3462902" y="2333202"/>
                  </a:lnTo>
                  <a:lnTo>
                    <a:pt x="0" y="2333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117" t="-9861" r="-15043" b="-20905"/>
              </a:stretch>
            </a:blipFill>
          </p:spPr>
        </p:sp>
        <p:sp>
          <p:nvSpPr>
            <p:cNvPr id="43" name="AutoShape 43"/>
            <p:cNvSpPr/>
            <p:nvPr/>
          </p:nvSpPr>
          <p:spPr>
            <a:xfrm flipH="1" flipV="1">
              <a:off x="3337392" y="1122390"/>
              <a:ext cx="2531" cy="69612"/>
            </a:xfrm>
            <a:prstGeom prst="line">
              <a:avLst/>
            </a:prstGeom>
            <a:ln w="12700" cap="rnd">
              <a:solidFill>
                <a:srgbClr val="202846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3462902" cy="2333202"/>
            </a:xfrm>
            <a:custGeom>
              <a:avLst/>
              <a:gdLst/>
              <a:ahLst/>
              <a:cxnLst/>
              <a:rect l="l" t="t" r="r" b="b"/>
              <a:pathLst>
                <a:path w="3462902" h="2333202">
                  <a:moveTo>
                    <a:pt x="0" y="0"/>
                  </a:moveTo>
                  <a:lnTo>
                    <a:pt x="3462902" y="0"/>
                  </a:lnTo>
                  <a:lnTo>
                    <a:pt x="3462902" y="2333202"/>
                  </a:lnTo>
                  <a:lnTo>
                    <a:pt x="0" y="2333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117" t="-9861" r="-15043" b="-20905"/>
              </a:stretch>
            </a:blipFill>
          </p:spPr>
        </p:sp>
        <p:sp>
          <p:nvSpPr>
            <p:cNvPr id="45" name="AutoShape 45"/>
            <p:cNvSpPr/>
            <p:nvPr/>
          </p:nvSpPr>
          <p:spPr>
            <a:xfrm flipH="1" flipV="1">
              <a:off x="3337392" y="1122390"/>
              <a:ext cx="2531" cy="69612"/>
            </a:xfrm>
            <a:prstGeom prst="line">
              <a:avLst/>
            </a:prstGeom>
            <a:ln w="12700" cap="rnd">
              <a:solidFill>
                <a:srgbClr val="202846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028700" y="2045905"/>
            <a:ext cx="1356932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Business Outcomes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8700" y="2828860"/>
            <a:ext cx="12109291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Enterprise Value Delivered with</a:t>
            </a: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AIForge™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Accelerate modernization, reduce risk and deliver secure, production-ready applications.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sp>
        <p:nvSpPr>
          <p:cNvPr id="49" name="Freeform 49"/>
          <p:cNvSpPr/>
          <p:nvPr/>
        </p:nvSpPr>
        <p:spPr>
          <a:xfrm>
            <a:off x="12539779" y="4097494"/>
            <a:ext cx="394754" cy="367270"/>
          </a:xfrm>
          <a:custGeom>
            <a:avLst/>
            <a:gdLst/>
            <a:ahLst/>
            <a:cxnLst/>
            <a:rect l="l" t="t" r="r" b="b"/>
            <a:pathLst>
              <a:path w="394754" h="367270">
                <a:moveTo>
                  <a:pt x="0" y="0"/>
                </a:moveTo>
                <a:lnTo>
                  <a:pt x="394754" y="0"/>
                </a:lnTo>
                <a:lnTo>
                  <a:pt x="394754" y="367270"/>
                </a:lnTo>
                <a:lnTo>
                  <a:pt x="0" y="367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9944" t="-41324" r="-258780" b="-280530"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0379754" y="6061537"/>
            <a:ext cx="318380" cy="346469"/>
          </a:xfrm>
          <a:custGeom>
            <a:avLst/>
            <a:gdLst/>
            <a:ahLst/>
            <a:cxnLst/>
            <a:rect l="l" t="t" r="r" b="b"/>
            <a:pathLst>
              <a:path w="318380" h="346469">
                <a:moveTo>
                  <a:pt x="0" y="0"/>
                </a:moveTo>
                <a:lnTo>
                  <a:pt x="318380" y="0"/>
                </a:lnTo>
                <a:lnTo>
                  <a:pt x="318380" y="346469"/>
                </a:lnTo>
                <a:lnTo>
                  <a:pt x="0" y="346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4728" t="-208010" r="-658585" b="-208619"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2539779" y="6061537"/>
            <a:ext cx="473738" cy="379545"/>
          </a:xfrm>
          <a:custGeom>
            <a:avLst/>
            <a:gdLst/>
            <a:ahLst/>
            <a:cxnLst/>
            <a:rect l="l" t="t" r="r" b="b"/>
            <a:pathLst>
              <a:path w="473738" h="379545">
                <a:moveTo>
                  <a:pt x="0" y="0"/>
                </a:moveTo>
                <a:lnTo>
                  <a:pt x="473738" y="0"/>
                </a:lnTo>
                <a:lnTo>
                  <a:pt x="473738" y="379545"/>
                </a:lnTo>
                <a:lnTo>
                  <a:pt x="0" y="37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9571" t="-193682" r="-253653" b="-183308"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4703803" y="4118806"/>
            <a:ext cx="458541" cy="342385"/>
          </a:xfrm>
          <a:custGeom>
            <a:avLst/>
            <a:gdLst/>
            <a:ahLst/>
            <a:cxnLst/>
            <a:rect l="l" t="t" r="r" b="b"/>
            <a:pathLst>
              <a:path w="458541" h="342385">
                <a:moveTo>
                  <a:pt x="0" y="0"/>
                </a:moveTo>
                <a:lnTo>
                  <a:pt x="458541" y="0"/>
                </a:lnTo>
                <a:lnTo>
                  <a:pt x="458541" y="342385"/>
                </a:lnTo>
                <a:lnTo>
                  <a:pt x="0" y="3423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9578" t="-48985" r="-41799" b="-307592"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4699804" y="6052462"/>
            <a:ext cx="494146" cy="363422"/>
          </a:xfrm>
          <a:custGeom>
            <a:avLst/>
            <a:gdLst/>
            <a:ahLst/>
            <a:cxnLst/>
            <a:rect l="l" t="t" r="r" b="b"/>
            <a:pathLst>
              <a:path w="494146" h="363422">
                <a:moveTo>
                  <a:pt x="0" y="0"/>
                </a:moveTo>
                <a:lnTo>
                  <a:pt x="494146" y="0"/>
                </a:lnTo>
                <a:lnTo>
                  <a:pt x="494146" y="363422"/>
                </a:lnTo>
                <a:lnTo>
                  <a:pt x="0" y="3634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7233" t="-195642" r="-46640" b="-188297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79754" y="4143691"/>
            <a:ext cx="459598" cy="388620"/>
          </a:xfrm>
          <a:custGeom>
            <a:avLst/>
            <a:gdLst/>
            <a:ahLst/>
            <a:cxnLst/>
            <a:rect l="l" t="t" r="r" b="b"/>
            <a:pathLst>
              <a:path w="459598" h="388620">
                <a:moveTo>
                  <a:pt x="0" y="0"/>
                </a:moveTo>
                <a:lnTo>
                  <a:pt x="459597" y="0"/>
                </a:lnTo>
                <a:lnTo>
                  <a:pt x="459597" y="388620"/>
                </a:lnTo>
                <a:lnTo>
                  <a:pt x="0" y="388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822" t="-48613" r="-420926" b="-290342"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0379754" y="4617417"/>
            <a:ext cx="1666809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Accelerate application modernization using AI-driven automation.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904744" y="4115116"/>
            <a:ext cx="1068206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Up to </a:t>
            </a:r>
          </a:p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90% Faster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539779" y="4617417"/>
            <a:ext cx="1666809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Reduce migration effort through intelligent automation.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001208" y="4102674"/>
            <a:ext cx="1068206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Up to 10× Lower Cost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699804" y="4617417"/>
            <a:ext cx="1666809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Deliver secure, maintainable software without extensive manual redevelopment.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5229019" y="4102674"/>
            <a:ext cx="1294851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Production-Ready Applications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379754" y="6526188"/>
            <a:ext cx="1666809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Support enterprise governance with secure deployment and compliance.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64809" y="6032962"/>
            <a:ext cx="1068206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Secure by Design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539779" y="6526188"/>
            <a:ext cx="1770487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Maintain transparency through approvals, review and explainability.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080192" y="6032962"/>
            <a:ext cx="1068206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Human-in-the-Loop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699804" y="6526188"/>
            <a:ext cx="1666809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Deploy scalable enterprise applications across modern cloud environments.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5224795" y="6128662"/>
            <a:ext cx="1068206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Cloud Native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379754" y="7877744"/>
            <a:ext cx="191092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Business Impact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379754" y="8155070"/>
            <a:ext cx="3234541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Minimisist in design, visualising four measurable enterprise outcomes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379754" y="8641946"/>
            <a:ext cx="1956172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Innovation</a:t>
            </a:r>
          </a:p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Operational Efficiency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273405" y="8641946"/>
            <a:ext cx="1455607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Delivery Speed</a:t>
            </a:r>
          </a:p>
          <a:p>
            <a:pPr marL="215903" lvl="1" indent="-107951" algn="l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Business Agility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28700" y="1028700"/>
            <a:ext cx="16073295" cy="824943"/>
            <a:chOff x="0" y="0"/>
            <a:chExt cx="21431060" cy="10999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54433" cy="1099924"/>
            </a:xfrm>
            <a:custGeom>
              <a:avLst/>
              <a:gdLst/>
              <a:ahLst/>
              <a:cxnLst/>
              <a:rect l="l" t="t" r="r" b="b"/>
              <a:pathLst>
                <a:path w="2354433" h="1099924">
                  <a:moveTo>
                    <a:pt x="0" y="0"/>
                  </a:moveTo>
                  <a:lnTo>
                    <a:pt x="2354433" y="0"/>
                  </a:lnTo>
                  <a:lnTo>
                    <a:pt x="2354433" y="1099924"/>
                  </a:lnTo>
                  <a:lnTo>
                    <a:pt x="0" y="1099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14" t="-57970" r="-36034" b="-6913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9566504" y="258133"/>
              <a:ext cx="1658656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AIFORGE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144686" y="331640"/>
              <a:ext cx="286373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>
                  <a:solidFill>
                    <a:srgbClr val="FF5F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25750" y="763368"/>
              <a:ext cx="5992580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59"/>
                </a:lnSpc>
              </a:pPr>
              <a:r>
                <a:rPr lang="en-US" sz="1399" b="1">
                  <a:solidFill>
                    <a:srgbClr val="0E59B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AI-Driven Intelligent Modernization Platform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95490" y="3660444"/>
            <a:ext cx="1890180" cy="1532023"/>
            <a:chOff x="0" y="0"/>
            <a:chExt cx="599992" cy="4863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9992" cy="486304"/>
            </a:xfrm>
            <a:custGeom>
              <a:avLst/>
              <a:gdLst/>
              <a:ahLst/>
              <a:cxnLst/>
              <a:rect l="l" t="t" r="r" b="b"/>
              <a:pathLst>
                <a:path w="599992" h="486304">
                  <a:moveTo>
                    <a:pt x="47998" y="0"/>
                  </a:moveTo>
                  <a:lnTo>
                    <a:pt x="551993" y="0"/>
                  </a:lnTo>
                  <a:cubicBezTo>
                    <a:pt x="578502" y="0"/>
                    <a:pt x="599992" y="21490"/>
                    <a:pt x="599992" y="47998"/>
                  </a:cubicBezTo>
                  <a:lnTo>
                    <a:pt x="599992" y="438305"/>
                  </a:lnTo>
                  <a:cubicBezTo>
                    <a:pt x="599992" y="451035"/>
                    <a:pt x="594935" y="463244"/>
                    <a:pt x="585933" y="472245"/>
                  </a:cubicBezTo>
                  <a:cubicBezTo>
                    <a:pt x="576932" y="481247"/>
                    <a:pt x="564723" y="486304"/>
                    <a:pt x="551993" y="486304"/>
                  </a:cubicBezTo>
                  <a:lnTo>
                    <a:pt x="47998" y="486304"/>
                  </a:lnTo>
                  <a:cubicBezTo>
                    <a:pt x="21490" y="486304"/>
                    <a:pt x="0" y="464814"/>
                    <a:pt x="0" y="438305"/>
                  </a:cubicBezTo>
                  <a:lnTo>
                    <a:pt x="0" y="47998"/>
                  </a:lnTo>
                  <a:cubicBezTo>
                    <a:pt x="0" y="21490"/>
                    <a:pt x="21490" y="0"/>
                    <a:pt x="4799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99992" cy="5244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35465" y="3660444"/>
            <a:ext cx="1890180" cy="1532023"/>
            <a:chOff x="0" y="0"/>
            <a:chExt cx="599992" cy="4863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99992" cy="486304"/>
            </a:xfrm>
            <a:custGeom>
              <a:avLst/>
              <a:gdLst/>
              <a:ahLst/>
              <a:cxnLst/>
              <a:rect l="l" t="t" r="r" b="b"/>
              <a:pathLst>
                <a:path w="599992" h="486304">
                  <a:moveTo>
                    <a:pt x="47998" y="0"/>
                  </a:moveTo>
                  <a:lnTo>
                    <a:pt x="551993" y="0"/>
                  </a:lnTo>
                  <a:cubicBezTo>
                    <a:pt x="578502" y="0"/>
                    <a:pt x="599992" y="21490"/>
                    <a:pt x="599992" y="47998"/>
                  </a:cubicBezTo>
                  <a:lnTo>
                    <a:pt x="599992" y="438305"/>
                  </a:lnTo>
                  <a:cubicBezTo>
                    <a:pt x="599992" y="451035"/>
                    <a:pt x="594935" y="463244"/>
                    <a:pt x="585933" y="472245"/>
                  </a:cubicBezTo>
                  <a:cubicBezTo>
                    <a:pt x="576932" y="481247"/>
                    <a:pt x="564723" y="486304"/>
                    <a:pt x="551993" y="486304"/>
                  </a:cubicBezTo>
                  <a:lnTo>
                    <a:pt x="47998" y="486304"/>
                  </a:lnTo>
                  <a:cubicBezTo>
                    <a:pt x="21490" y="486304"/>
                    <a:pt x="0" y="464814"/>
                    <a:pt x="0" y="438305"/>
                  </a:cubicBezTo>
                  <a:lnTo>
                    <a:pt x="0" y="47998"/>
                  </a:lnTo>
                  <a:cubicBezTo>
                    <a:pt x="0" y="21490"/>
                    <a:pt x="21490" y="0"/>
                    <a:pt x="4799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99992" cy="5244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54688" y="5173417"/>
            <a:ext cx="1251735" cy="0"/>
          </a:xfrm>
          <a:prstGeom prst="line">
            <a:avLst/>
          </a:prstGeom>
          <a:ln w="38100" cap="flat">
            <a:solidFill>
              <a:srgbClr val="FF5F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3314713" y="5173417"/>
            <a:ext cx="1251735" cy="0"/>
          </a:xfrm>
          <a:prstGeom prst="line">
            <a:avLst/>
          </a:prstGeom>
          <a:ln w="38100" cap="flat">
            <a:solidFill>
              <a:srgbClr val="FF5F2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2995490" y="5380287"/>
            <a:ext cx="1890180" cy="1532023"/>
            <a:chOff x="0" y="0"/>
            <a:chExt cx="599992" cy="48630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9992" cy="486304"/>
            </a:xfrm>
            <a:custGeom>
              <a:avLst/>
              <a:gdLst/>
              <a:ahLst/>
              <a:cxnLst/>
              <a:rect l="l" t="t" r="r" b="b"/>
              <a:pathLst>
                <a:path w="599992" h="486304">
                  <a:moveTo>
                    <a:pt x="47998" y="0"/>
                  </a:moveTo>
                  <a:lnTo>
                    <a:pt x="551993" y="0"/>
                  </a:lnTo>
                  <a:cubicBezTo>
                    <a:pt x="578502" y="0"/>
                    <a:pt x="599992" y="21490"/>
                    <a:pt x="599992" y="47998"/>
                  </a:cubicBezTo>
                  <a:lnTo>
                    <a:pt x="599992" y="438305"/>
                  </a:lnTo>
                  <a:cubicBezTo>
                    <a:pt x="599992" y="451035"/>
                    <a:pt x="594935" y="463244"/>
                    <a:pt x="585933" y="472245"/>
                  </a:cubicBezTo>
                  <a:cubicBezTo>
                    <a:pt x="576932" y="481247"/>
                    <a:pt x="564723" y="486304"/>
                    <a:pt x="551993" y="486304"/>
                  </a:cubicBezTo>
                  <a:lnTo>
                    <a:pt x="47998" y="486304"/>
                  </a:lnTo>
                  <a:cubicBezTo>
                    <a:pt x="21490" y="486304"/>
                    <a:pt x="0" y="464814"/>
                    <a:pt x="0" y="438305"/>
                  </a:cubicBezTo>
                  <a:lnTo>
                    <a:pt x="0" y="47998"/>
                  </a:lnTo>
                  <a:cubicBezTo>
                    <a:pt x="0" y="21490"/>
                    <a:pt x="21490" y="0"/>
                    <a:pt x="4799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99992" cy="5244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5465" y="5380287"/>
            <a:ext cx="1890180" cy="1532023"/>
            <a:chOff x="0" y="0"/>
            <a:chExt cx="599992" cy="4863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99992" cy="486304"/>
            </a:xfrm>
            <a:custGeom>
              <a:avLst/>
              <a:gdLst/>
              <a:ahLst/>
              <a:cxnLst/>
              <a:rect l="l" t="t" r="r" b="b"/>
              <a:pathLst>
                <a:path w="599992" h="486304">
                  <a:moveTo>
                    <a:pt x="47998" y="0"/>
                  </a:moveTo>
                  <a:lnTo>
                    <a:pt x="551993" y="0"/>
                  </a:lnTo>
                  <a:cubicBezTo>
                    <a:pt x="578502" y="0"/>
                    <a:pt x="599992" y="21490"/>
                    <a:pt x="599992" y="47998"/>
                  </a:cubicBezTo>
                  <a:lnTo>
                    <a:pt x="599992" y="438305"/>
                  </a:lnTo>
                  <a:cubicBezTo>
                    <a:pt x="599992" y="451035"/>
                    <a:pt x="594935" y="463244"/>
                    <a:pt x="585933" y="472245"/>
                  </a:cubicBezTo>
                  <a:cubicBezTo>
                    <a:pt x="576932" y="481247"/>
                    <a:pt x="564723" y="486304"/>
                    <a:pt x="551993" y="486304"/>
                  </a:cubicBezTo>
                  <a:lnTo>
                    <a:pt x="47998" y="486304"/>
                  </a:lnTo>
                  <a:cubicBezTo>
                    <a:pt x="21490" y="486304"/>
                    <a:pt x="0" y="464814"/>
                    <a:pt x="0" y="438305"/>
                  </a:cubicBezTo>
                  <a:lnTo>
                    <a:pt x="0" y="47998"/>
                  </a:lnTo>
                  <a:cubicBezTo>
                    <a:pt x="0" y="21490"/>
                    <a:pt x="21490" y="0"/>
                    <a:pt x="4799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99992" cy="5244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154688" y="6893261"/>
            <a:ext cx="1251735" cy="0"/>
          </a:xfrm>
          <a:prstGeom prst="line">
            <a:avLst/>
          </a:prstGeom>
          <a:ln w="38100" cap="flat">
            <a:solidFill>
              <a:srgbClr val="FF5F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3314713" y="6893261"/>
            <a:ext cx="1251735" cy="0"/>
          </a:xfrm>
          <a:prstGeom prst="line">
            <a:avLst/>
          </a:prstGeom>
          <a:ln w="38100" cap="flat">
            <a:solidFill>
              <a:srgbClr val="FF5F2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2995490" y="7100131"/>
            <a:ext cx="1890180" cy="1532023"/>
            <a:chOff x="0" y="0"/>
            <a:chExt cx="599992" cy="4863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9992" cy="486304"/>
            </a:xfrm>
            <a:custGeom>
              <a:avLst/>
              <a:gdLst/>
              <a:ahLst/>
              <a:cxnLst/>
              <a:rect l="l" t="t" r="r" b="b"/>
              <a:pathLst>
                <a:path w="599992" h="486304">
                  <a:moveTo>
                    <a:pt x="47998" y="0"/>
                  </a:moveTo>
                  <a:lnTo>
                    <a:pt x="551993" y="0"/>
                  </a:lnTo>
                  <a:cubicBezTo>
                    <a:pt x="578502" y="0"/>
                    <a:pt x="599992" y="21490"/>
                    <a:pt x="599992" y="47998"/>
                  </a:cubicBezTo>
                  <a:lnTo>
                    <a:pt x="599992" y="438305"/>
                  </a:lnTo>
                  <a:cubicBezTo>
                    <a:pt x="599992" y="451035"/>
                    <a:pt x="594935" y="463244"/>
                    <a:pt x="585933" y="472245"/>
                  </a:cubicBezTo>
                  <a:cubicBezTo>
                    <a:pt x="576932" y="481247"/>
                    <a:pt x="564723" y="486304"/>
                    <a:pt x="551993" y="486304"/>
                  </a:cubicBezTo>
                  <a:lnTo>
                    <a:pt x="47998" y="486304"/>
                  </a:lnTo>
                  <a:cubicBezTo>
                    <a:pt x="21490" y="486304"/>
                    <a:pt x="0" y="464814"/>
                    <a:pt x="0" y="438305"/>
                  </a:cubicBezTo>
                  <a:lnTo>
                    <a:pt x="0" y="47998"/>
                  </a:lnTo>
                  <a:cubicBezTo>
                    <a:pt x="0" y="21490"/>
                    <a:pt x="21490" y="0"/>
                    <a:pt x="4799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599992" cy="5244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5465" y="7100131"/>
            <a:ext cx="1890180" cy="1532023"/>
            <a:chOff x="0" y="0"/>
            <a:chExt cx="599992" cy="4863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9992" cy="486304"/>
            </a:xfrm>
            <a:custGeom>
              <a:avLst/>
              <a:gdLst/>
              <a:ahLst/>
              <a:cxnLst/>
              <a:rect l="l" t="t" r="r" b="b"/>
              <a:pathLst>
                <a:path w="599992" h="486304">
                  <a:moveTo>
                    <a:pt x="47998" y="0"/>
                  </a:moveTo>
                  <a:lnTo>
                    <a:pt x="551993" y="0"/>
                  </a:lnTo>
                  <a:cubicBezTo>
                    <a:pt x="578502" y="0"/>
                    <a:pt x="599992" y="21490"/>
                    <a:pt x="599992" y="47998"/>
                  </a:cubicBezTo>
                  <a:lnTo>
                    <a:pt x="599992" y="438305"/>
                  </a:lnTo>
                  <a:cubicBezTo>
                    <a:pt x="599992" y="451035"/>
                    <a:pt x="594935" y="463244"/>
                    <a:pt x="585933" y="472245"/>
                  </a:cubicBezTo>
                  <a:cubicBezTo>
                    <a:pt x="576932" y="481247"/>
                    <a:pt x="564723" y="486304"/>
                    <a:pt x="551993" y="486304"/>
                  </a:cubicBezTo>
                  <a:lnTo>
                    <a:pt x="47998" y="486304"/>
                  </a:lnTo>
                  <a:cubicBezTo>
                    <a:pt x="21490" y="486304"/>
                    <a:pt x="0" y="464814"/>
                    <a:pt x="0" y="438305"/>
                  </a:cubicBezTo>
                  <a:lnTo>
                    <a:pt x="0" y="47998"/>
                  </a:lnTo>
                  <a:cubicBezTo>
                    <a:pt x="0" y="21490"/>
                    <a:pt x="21490" y="0"/>
                    <a:pt x="47998" y="0"/>
                  </a:cubicBezTo>
                  <a:close/>
                </a:path>
              </a:pathLst>
            </a:custGeom>
            <a:solidFill>
              <a:srgbClr val="FFFFFF"/>
            </a:solidFill>
            <a:scene3d>
              <a:camera prst="orthographicFront"/>
              <a:lightRig rig="threePt" dir="t"/>
            </a:scene3d>
            <a:sp3d>
              <a:bevelT/>
            </a:sp3d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99992" cy="5244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32930" tIns="32930" rIns="32930" bIns="3293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7" name="AutoShape 37"/>
          <p:cNvSpPr/>
          <p:nvPr/>
        </p:nvSpPr>
        <p:spPr>
          <a:xfrm>
            <a:off x="1154688" y="8613104"/>
            <a:ext cx="1251735" cy="0"/>
          </a:xfrm>
          <a:prstGeom prst="line">
            <a:avLst/>
          </a:prstGeom>
          <a:ln w="38100" cap="flat">
            <a:solidFill>
              <a:srgbClr val="FF5F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3314713" y="8613104"/>
            <a:ext cx="1251735" cy="0"/>
          </a:xfrm>
          <a:prstGeom prst="line">
            <a:avLst/>
          </a:prstGeom>
          <a:ln w="38100" cap="flat">
            <a:solidFill>
              <a:srgbClr val="FF5F2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Freeform 39"/>
          <p:cNvSpPr/>
          <p:nvPr/>
        </p:nvSpPr>
        <p:spPr>
          <a:xfrm>
            <a:off x="14372708" y="6767114"/>
            <a:ext cx="588926" cy="597178"/>
          </a:xfrm>
          <a:custGeom>
            <a:avLst/>
            <a:gdLst/>
            <a:ahLst/>
            <a:cxnLst/>
            <a:rect l="l" t="t" r="r" b="b"/>
            <a:pathLst>
              <a:path w="588926" h="597178">
                <a:moveTo>
                  <a:pt x="0" y="0"/>
                </a:moveTo>
                <a:lnTo>
                  <a:pt x="588926" y="0"/>
                </a:lnTo>
                <a:lnTo>
                  <a:pt x="588926" y="597178"/>
                </a:lnTo>
                <a:lnTo>
                  <a:pt x="0" y="597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3944" t="-241202" r="-209413" b="-325033"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6426146" y="6767114"/>
            <a:ext cx="597507" cy="597178"/>
          </a:xfrm>
          <a:custGeom>
            <a:avLst/>
            <a:gdLst/>
            <a:ahLst/>
            <a:cxnLst/>
            <a:rect l="l" t="t" r="r" b="b"/>
            <a:pathLst>
              <a:path w="597507" h="597178">
                <a:moveTo>
                  <a:pt x="0" y="0"/>
                </a:moveTo>
                <a:lnTo>
                  <a:pt x="597507" y="0"/>
                </a:lnTo>
                <a:lnTo>
                  <a:pt x="597507" y="597178"/>
                </a:lnTo>
                <a:lnTo>
                  <a:pt x="0" y="597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52506" t="-212849" r="-39517" b="-282159"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527131" y="5273161"/>
            <a:ext cx="406263" cy="481185"/>
          </a:xfrm>
          <a:custGeom>
            <a:avLst/>
            <a:gdLst/>
            <a:ahLst/>
            <a:cxnLst/>
            <a:rect l="l" t="t" r="r" b="b"/>
            <a:pathLst>
              <a:path w="406263" h="481185">
                <a:moveTo>
                  <a:pt x="0" y="0"/>
                </a:moveTo>
                <a:lnTo>
                  <a:pt x="406263" y="0"/>
                </a:lnTo>
                <a:lnTo>
                  <a:pt x="406263" y="481184"/>
                </a:lnTo>
                <a:lnTo>
                  <a:pt x="0" y="481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5519" t="-241202" r="-448132" b="-325033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4352873" y="5273161"/>
            <a:ext cx="628596" cy="481185"/>
          </a:xfrm>
          <a:custGeom>
            <a:avLst/>
            <a:gdLst/>
            <a:ahLst/>
            <a:cxnLst/>
            <a:rect l="l" t="t" r="r" b="b"/>
            <a:pathLst>
              <a:path w="628596" h="481185">
                <a:moveTo>
                  <a:pt x="0" y="0"/>
                </a:moveTo>
                <a:lnTo>
                  <a:pt x="628596" y="0"/>
                </a:lnTo>
                <a:lnTo>
                  <a:pt x="628596" y="481184"/>
                </a:lnTo>
                <a:lnTo>
                  <a:pt x="0" y="481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7891" t="-262413" r="-416063" b="-346459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6502132" y="3817534"/>
            <a:ext cx="456261" cy="475689"/>
          </a:xfrm>
          <a:custGeom>
            <a:avLst/>
            <a:gdLst/>
            <a:ahLst/>
            <a:cxnLst/>
            <a:rect l="l" t="t" r="r" b="b"/>
            <a:pathLst>
              <a:path w="456261" h="475689">
                <a:moveTo>
                  <a:pt x="0" y="0"/>
                </a:moveTo>
                <a:lnTo>
                  <a:pt x="456261" y="0"/>
                </a:lnTo>
                <a:lnTo>
                  <a:pt x="456261" y="475688"/>
                </a:lnTo>
                <a:lnTo>
                  <a:pt x="0" y="475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7402" t="-207291" r="-640953" b="-292729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4318476" y="3852825"/>
            <a:ext cx="559106" cy="475689"/>
          </a:xfrm>
          <a:custGeom>
            <a:avLst/>
            <a:gdLst/>
            <a:ahLst/>
            <a:cxnLst/>
            <a:rect l="l" t="t" r="r" b="b"/>
            <a:pathLst>
              <a:path w="559106" h="475689">
                <a:moveTo>
                  <a:pt x="0" y="0"/>
                </a:moveTo>
                <a:lnTo>
                  <a:pt x="559105" y="0"/>
                </a:lnTo>
                <a:lnTo>
                  <a:pt x="559105" y="475688"/>
                </a:lnTo>
                <a:lnTo>
                  <a:pt x="0" y="475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645" t="-241202" r="-721608" b="-325033"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5486274" y="8372578"/>
            <a:ext cx="7999285" cy="481051"/>
            <a:chOff x="0" y="0"/>
            <a:chExt cx="10665714" cy="641401"/>
          </a:xfrm>
        </p:grpSpPr>
        <p:sp>
          <p:nvSpPr>
            <p:cNvPr id="46" name="AutoShape 46"/>
            <p:cNvSpPr/>
            <p:nvPr/>
          </p:nvSpPr>
          <p:spPr>
            <a:xfrm>
              <a:off x="931057" y="305385"/>
              <a:ext cx="450410" cy="0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2602657" y="305385"/>
              <a:ext cx="476849" cy="7941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4256456" y="309355"/>
              <a:ext cx="476849" cy="7941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5910255" y="313326"/>
              <a:ext cx="476849" cy="7941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564053" y="317297"/>
              <a:ext cx="476849" cy="7941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9217852" y="321267"/>
              <a:ext cx="476849" cy="7941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2" name="AutoShape 52"/>
            <p:cNvSpPr/>
            <p:nvPr/>
          </p:nvSpPr>
          <p:spPr>
            <a:xfrm flipH="1">
              <a:off x="1991956" y="66927"/>
              <a:ext cx="0" cy="476915"/>
            </a:xfrm>
            <a:prstGeom prst="line">
              <a:avLst/>
            </a:prstGeom>
            <a:ln w="25400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3" name="Freeform 53"/>
            <p:cNvSpPr/>
            <p:nvPr/>
          </p:nvSpPr>
          <p:spPr>
            <a:xfrm>
              <a:off x="5045182" y="17015"/>
              <a:ext cx="623805" cy="624386"/>
            </a:xfrm>
            <a:custGeom>
              <a:avLst/>
              <a:gdLst/>
              <a:ahLst/>
              <a:cxnLst/>
              <a:rect l="l" t="t" r="r" b="b"/>
              <a:pathLst>
                <a:path w="623805" h="624386">
                  <a:moveTo>
                    <a:pt x="0" y="0"/>
                  </a:moveTo>
                  <a:lnTo>
                    <a:pt x="623806" y="0"/>
                  </a:lnTo>
                  <a:lnTo>
                    <a:pt x="623806" y="624386"/>
                  </a:lnTo>
                  <a:lnTo>
                    <a:pt x="0" y="624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2129" t="-508884" r="-451647" b="-152924"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>
              <a:off x="6693611" y="0"/>
              <a:ext cx="641084" cy="605889"/>
            </a:xfrm>
            <a:custGeom>
              <a:avLst/>
              <a:gdLst/>
              <a:ahLst/>
              <a:cxnLst/>
              <a:rect l="l" t="t" r="r" b="b"/>
              <a:pathLst>
                <a:path w="641084" h="605889">
                  <a:moveTo>
                    <a:pt x="0" y="0"/>
                  </a:moveTo>
                  <a:lnTo>
                    <a:pt x="641084" y="0"/>
                  </a:lnTo>
                  <a:lnTo>
                    <a:pt x="641084" y="605889"/>
                  </a:lnTo>
                  <a:lnTo>
                    <a:pt x="0" y="605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9668" t="-508884" r="-250311" b="-152924"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10050513" y="17015"/>
              <a:ext cx="615201" cy="543842"/>
            </a:xfrm>
            <a:custGeom>
              <a:avLst/>
              <a:gdLst/>
              <a:ahLst/>
              <a:cxnLst/>
              <a:rect l="l" t="t" r="r" b="b"/>
              <a:pathLst>
                <a:path w="615201" h="543842">
                  <a:moveTo>
                    <a:pt x="0" y="0"/>
                  </a:moveTo>
                  <a:lnTo>
                    <a:pt x="615201" y="0"/>
                  </a:lnTo>
                  <a:lnTo>
                    <a:pt x="615201" y="543843"/>
                  </a:lnTo>
                  <a:lnTo>
                    <a:pt x="0" y="543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5231" t="-539030" r="-51621" b="-165527"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>
              <a:off x="0" y="66927"/>
              <a:ext cx="626257" cy="476915"/>
            </a:xfrm>
            <a:custGeom>
              <a:avLst/>
              <a:gdLst/>
              <a:ahLst/>
              <a:cxnLst/>
              <a:rect l="l" t="t" r="r" b="b"/>
              <a:pathLst>
                <a:path w="626257" h="476915">
                  <a:moveTo>
                    <a:pt x="0" y="0"/>
                  </a:moveTo>
                  <a:lnTo>
                    <a:pt x="626257" y="0"/>
                  </a:lnTo>
                  <a:lnTo>
                    <a:pt x="626257" y="476915"/>
                  </a:lnTo>
                  <a:lnTo>
                    <a:pt x="0" y="476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543" t="-573149" r="-841566" b="-184865"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>
              <a:off x="3388565" y="3164"/>
              <a:ext cx="512079" cy="604441"/>
            </a:xfrm>
            <a:custGeom>
              <a:avLst/>
              <a:gdLst/>
              <a:ahLst/>
              <a:cxnLst/>
              <a:rect l="l" t="t" r="r" b="b"/>
              <a:pathLst>
                <a:path w="512079" h="604441">
                  <a:moveTo>
                    <a:pt x="0" y="0"/>
                  </a:moveTo>
                  <a:lnTo>
                    <a:pt x="512080" y="0"/>
                  </a:lnTo>
                  <a:lnTo>
                    <a:pt x="512080" y="604441"/>
                  </a:lnTo>
                  <a:lnTo>
                    <a:pt x="0" y="604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36252" t="-428109" r="-633632" b="-132637"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>
              <a:off x="8396714" y="42413"/>
              <a:ext cx="604575" cy="573591"/>
            </a:xfrm>
            <a:custGeom>
              <a:avLst/>
              <a:gdLst/>
              <a:ahLst/>
              <a:cxnLst/>
              <a:rect l="l" t="t" r="r" b="b"/>
              <a:pathLst>
                <a:path w="604575" h="573591">
                  <a:moveTo>
                    <a:pt x="0" y="0"/>
                  </a:moveTo>
                  <a:lnTo>
                    <a:pt x="604576" y="0"/>
                  </a:lnTo>
                  <a:lnTo>
                    <a:pt x="604576" y="573591"/>
                  </a:lnTo>
                  <a:lnTo>
                    <a:pt x="0" y="57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6975" t="-1132302" r="-454073" b="-47311"/>
              </a:stretch>
            </a:blipFill>
          </p:spPr>
        </p:sp>
      </p:grpSp>
      <p:sp>
        <p:nvSpPr>
          <p:cNvPr id="59" name="Freeform 59"/>
          <p:cNvSpPr/>
          <p:nvPr/>
        </p:nvSpPr>
        <p:spPr>
          <a:xfrm>
            <a:off x="3726952" y="5520739"/>
            <a:ext cx="427256" cy="406279"/>
          </a:xfrm>
          <a:custGeom>
            <a:avLst/>
            <a:gdLst/>
            <a:ahLst/>
            <a:cxnLst/>
            <a:rect l="l" t="t" r="r" b="b"/>
            <a:pathLst>
              <a:path w="427256" h="406279">
                <a:moveTo>
                  <a:pt x="0" y="0"/>
                </a:moveTo>
                <a:lnTo>
                  <a:pt x="427256" y="0"/>
                </a:lnTo>
                <a:lnTo>
                  <a:pt x="427256" y="406280"/>
                </a:lnTo>
                <a:lnTo>
                  <a:pt x="0" y="406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2447" t="-63210" r="-405028" b="-585183"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472894" y="5584150"/>
            <a:ext cx="498424" cy="282203"/>
          </a:xfrm>
          <a:custGeom>
            <a:avLst/>
            <a:gdLst/>
            <a:ahLst/>
            <a:cxnLst/>
            <a:rect l="l" t="t" r="r" b="b"/>
            <a:pathLst>
              <a:path w="498424" h="282203">
                <a:moveTo>
                  <a:pt x="0" y="0"/>
                </a:moveTo>
                <a:lnTo>
                  <a:pt x="498424" y="0"/>
                </a:lnTo>
                <a:lnTo>
                  <a:pt x="498424" y="282203"/>
                </a:lnTo>
                <a:lnTo>
                  <a:pt x="0" y="282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0886" t="-118141" r="-477252" b="-851153"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3688580" y="3860175"/>
            <a:ext cx="504000" cy="468338"/>
          </a:xfrm>
          <a:custGeom>
            <a:avLst/>
            <a:gdLst/>
            <a:ahLst/>
            <a:cxnLst/>
            <a:rect l="l" t="t" r="r" b="b"/>
            <a:pathLst>
              <a:path w="504000" h="468338">
                <a:moveTo>
                  <a:pt x="0" y="0"/>
                </a:moveTo>
                <a:lnTo>
                  <a:pt x="504000" y="0"/>
                </a:lnTo>
                <a:lnTo>
                  <a:pt x="504000" y="468338"/>
                </a:lnTo>
                <a:lnTo>
                  <a:pt x="0" y="468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7304" t="-68098" r="-740743" b="-612499"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472894" y="3838316"/>
            <a:ext cx="615322" cy="512056"/>
          </a:xfrm>
          <a:custGeom>
            <a:avLst/>
            <a:gdLst/>
            <a:ahLst/>
            <a:cxnLst/>
            <a:rect l="l" t="t" r="r" b="b"/>
            <a:pathLst>
              <a:path w="615322" h="512056">
                <a:moveTo>
                  <a:pt x="0" y="0"/>
                </a:moveTo>
                <a:lnTo>
                  <a:pt x="615322" y="0"/>
                </a:lnTo>
                <a:lnTo>
                  <a:pt x="615322" y="512056"/>
                </a:lnTo>
                <a:lnTo>
                  <a:pt x="0" y="512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808" t="-44475" r="-613865" b="-444080"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596305" y="7302836"/>
            <a:ext cx="368500" cy="406279"/>
          </a:xfrm>
          <a:custGeom>
            <a:avLst/>
            <a:gdLst/>
            <a:ahLst/>
            <a:cxnLst/>
            <a:rect l="l" t="t" r="r" b="b"/>
            <a:pathLst>
              <a:path w="368500" h="406279">
                <a:moveTo>
                  <a:pt x="0" y="0"/>
                </a:moveTo>
                <a:lnTo>
                  <a:pt x="368500" y="0"/>
                </a:lnTo>
                <a:lnTo>
                  <a:pt x="368500" y="406279"/>
                </a:lnTo>
                <a:lnTo>
                  <a:pt x="0" y="406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5866" t="-60132" r="-251543" b="-551817"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3730753" y="7302836"/>
            <a:ext cx="461827" cy="406279"/>
          </a:xfrm>
          <a:custGeom>
            <a:avLst/>
            <a:gdLst/>
            <a:ahLst/>
            <a:cxnLst/>
            <a:rect l="l" t="t" r="r" b="b"/>
            <a:pathLst>
              <a:path w="461827" h="406279">
                <a:moveTo>
                  <a:pt x="0" y="0"/>
                </a:moveTo>
                <a:lnTo>
                  <a:pt x="461827" y="0"/>
                </a:lnTo>
                <a:lnTo>
                  <a:pt x="461827" y="406279"/>
                </a:lnTo>
                <a:lnTo>
                  <a:pt x="0" y="406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5425" t="-63133" r="-41076" b="-538983"/>
            </a:stretch>
          </a:blipFill>
        </p:spPr>
      </p:sp>
      <p:grpSp>
        <p:nvGrpSpPr>
          <p:cNvPr id="65" name="Group 65"/>
          <p:cNvGrpSpPr/>
          <p:nvPr/>
        </p:nvGrpSpPr>
        <p:grpSpPr>
          <a:xfrm>
            <a:off x="5347602" y="3287404"/>
            <a:ext cx="8508941" cy="4578739"/>
            <a:chOff x="0" y="0"/>
            <a:chExt cx="11345255" cy="6104985"/>
          </a:xfrm>
        </p:grpSpPr>
        <p:sp>
          <p:nvSpPr>
            <p:cNvPr id="66" name="Freeform 66"/>
            <p:cNvSpPr/>
            <p:nvPr/>
          </p:nvSpPr>
          <p:spPr>
            <a:xfrm>
              <a:off x="1426275" y="2023555"/>
              <a:ext cx="1106998" cy="919316"/>
            </a:xfrm>
            <a:custGeom>
              <a:avLst/>
              <a:gdLst/>
              <a:ahLst/>
              <a:cxnLst/>
              <a:rect l="l" t="t" r="r" b="b"/>
              <a:pathLst>
                <a:path w="1106998" h="919316">
                  <a:moveTo>
                    <a:pt x="0" y="919317"/>
                  </a:moveTo>
                  <a:lnTo>
                    <a:pt x="222098" y="919317"/>
                  </a:lnTo>
                  <a:cubicBezTo>
                    <a:pt x="344760" y="919317"/>
                    <a:pt x="444197" y="819880"/>
                    <a:pt x="444197" y="697218"/>
                  </a:cubicBezTo>
                  <a:lnTo>
                    <a:pt x="444197" y="329728"/>
                  </a:lnTo>
                  <a:cubicBezTo>
                    <a:pt x="444197" y="147624"/>
                    <a:pt x="591821" y="0"/>
                    <a:pt x="773925" y="0"/>
                  </a:cubicBezTo>
                  <a:lnTo>
                    <a:pt x="1106998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67" name="Freeform 67"/>
            <p:cNvSpPr/>
            <p:nvPr/>
          </p:nvSpPr>
          <p:spPr>
            <a:xfrm>
              <a:off x="1426275" y="3291865"/>
              <a:ext cx="1106998" cy="1147486"/>
            </a:xfrm>
            <a:custGeom>
              <a:avLst/>
              <a:gdLst/>
              <a:ahLst/>
              <a:cxnLst/>
              <a:rect l="l" t="t" r="r" b="b"/>
              <a:pathLst>
                <a:path w="1106998" h="1147486">
                  <a:moveTo>
                    <a:pt x="0" y="0"/>
                  </a:moveTo>
                  <a:lnTo>
                    <a:pt x="242579" y="0"/>
                  </a:lnTo>
                  <a:cubicBezTo>
                    <a:pt x="376551" y="0"/>
                    <a:pt x="485158" y="108607"/>
                    <a:pt x="485158" y="242579"/>
                  </a:cubicBezTo>
                  <a:lnTo>
                    <a:pt x="485158" y="836566"/>
                  </a:lnTo>
                  <a:cubicBezTo>
                    <a:pt x="485158" y="1008283"/>
                    <a:pt x="624361" y="1147487"/>
                    <a:pt x="796078" y="1147487"/>
                  </a:cubicBezTo>
                  <a:lnTo>
                    <a:pt x="1106998" y="1147487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68" name="Freeform 68"/>
            <p:cNvSpPr/>
            <p:nvPr/>
          </p:nvSpPr>
          <p:spPr>
            <a:xfrm>
              <a:off x="3133628" y="713145"/>
              <a:ext cx="1119883" cy="750395"/>
            </a:xfrm>
            <a:custGeom>
              <a:avLst/>
              <a:gdLst/>
              <a:ahLst/>
              <a:cxnLst/>
              <a:rect l="l" t="t" r="r" b="b"/>
              <a:pathLst>
                <a:path w="1119883" h="750395">
                  <a:moveTo>
                    <a:pt x="0" y="750395"/>
                  </a:moveTo>
                  <a:lnTo>
                    <a:pt x="0" y="329728"/>
                  </a:lnTo>
                  <a:cubicBezTo>
                    <a:pt x="0" y="147624"/>
                    <a:pt x="147624" y="0"/>
                    <a:pt x="329728" y="0"/>
                  </a:cubicBezTo>
                  <a:lnTo>
                    <a:pt x="1119883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69" name="Freeform 69"/>
            <p:cNvSpPr/>
            <p:nvPr/>
          </p:nvSpPr>
          <p:spPr>
            <a:xfrm>
              <a:off x="6903982" y="713145"/>
              <a:ext cx="1179502" cy="750395"/>
            </a:xfrm>
            <a:custGeom>
              <a:avLst/>
              <a:gdLst/>
              <a:ahLst/>
              <a:cxnLst/>
              <a:rect l="l" t="t" r="r" b="b"/>
              <a:pathLst>
                <a:path w="1179502" h="750395">
                  <a:moveTo>
                    <a:pt x="0" y="0"/>
                  </a:moveTo>
                  <a:lnTo>
                    <a:pt x="849773" y="0"/>
                  </a:lnTo>
                  <a:cubicBezTo>
                    <a:pt x="937223" y="0"/>
                    <a:pt x="1021090" y="34739"/>
                    <a:pt x="1082927" y="96575"/>
                  </a:cubicBezTo>
                  <a:cubicBezTo>
                    <a:pt x="1144762" y="158411"/>
                    <a:pt x="1179501" y="242279"/>
                    <a:pt x="1179501" y="329728"/>
                  </a:cubicBezTo>
                  <a:lnTo>
                    <a:pt x="1179501" y="750395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0" name="Freeform 70"/>
            <p:cNvSpPr/>
            <p:nvPr/>
          </p:nvSpPr>
          <p:spPr>
            <a:xfrm>
              <a:off x="5720678" y="1268611"/>
              <a:ext cx="1835314" cy="641093"/>
            </a:xfrm>
            <a:custGeom>
              <a:avLst/>
              <a:gdLst/>
              <a:ahLst/>
              <a:cxnLst/>
              <a:rect l="l" t="t" r="r" b="b"/>
              <a:pathLst>
                <a:path w="1835314" h="641093">
                  <a:moveTo>
                    <a:pt x="0" y="0"/>
                  </a:moveTo>
                  <a:lnTo>
                    <a:pt x="0" y="320547"/>
                  </a:lnTo>
                  <a:cubicBezTo>
                    <a:pt x="0" y="497580"/>
                    <a:pt x="143514" y="641093"/>
                    <a:pt x="320546" y="641093"/>
                  </a:cubicBezTo>
                  <a:lnTo>
                    <a:pt x="1835314" y="641093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71" name="Freeform 71"/>
            <p:cNvSpPr/>
            <p:nvPr/>
          </p:nvSpPr>
          <p:spPr>
            <a:xfrm>
              <a:off x="3631073" y="1268611"/>
              <a:ext cx="1788782" cy="641093"/>
            </a:xfrm>
            <a:custGeom>
              <a:avLst/>
              <a:gdLst/>
              <a:ahLst/>
              <a:cxnLst/>
              <a:rect l="l" t="t" r="r" b="b"/>
              <a:pathLst>
                <a:path w="1788782" h="641093">
                  <a:moveTo>
                    <a:pt x="1788782" y="0"/>
                  </a:moveTo>
                  <a:lnTo>
                    <a:pt x="1788782" y="320547"/>
                  </a:lnTo>
                  <a:cubicBezTo>
                    <a:pt x="1788782" y="497580"/>
                    <a:pt x="1645269" y="641093"/>
                    <a:pt x="1468236" y="641093"/>
                  </a:cubicBezTo>
                  <a:lnTo>
                    <a:pt x="0" y="641093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72" name="Freeform 72"/>
            <p:cNvSpPr/>
            <p:nvPr/>
          </p:nvSpPr>
          <p:spPr>
            <a:xfrm>
              <a:off x="5570267" y="1302394"/>
              <a:ext cx="0" cy="1214620"/>
            </a:xfrm>
            <a:custGeom>
              <a:avLst/>
              <a:gdLst/>
              <a:ahLst/>
              <a:cxnLst/>
              <a:rect l="l" t="t" r="r" b="b"/>
              <a:pathLst>
                <a:path h="1214620">
                  <a:moveTo>
                    <a:pt x="0" y="0"/>
                  </a:moveTo>
                  <a:lnTo>
                    <a:pt x="0" y="121462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3" name="Freeform 73"/>
            <p:cNvSpPr/>
            <p:nvPr/>
          </p:nvSpPr>
          <p:spPr>
            <a:xfrm>
              <a:off x="3631073" y="2037294"/>
              <a:ext cx="1384696" cy="905578"/>
            </a:xfrm>
            <a:custGeom>
              <a:avLst/>
              <a:gdLst/>
              <a:ahLst/>
              <a:cxnLst/>
              <a:rect l="l" t="t" r="r" b="b"/>
              <a:pathLst>
                <a:path w="1384696" h="905578">
                  <a:moveTo>
                    <a:pt x="1384696" y="905578"/>
                  </a:moveTo>
                  <a:lnTo>
                    <a:pt x="1045664" y="905578"/>
                  </a:lnTo>
                  <a:cubicBezTo>
                    <a:pt x="863561" y="905578"/>
                    <a:pt x="715936" y="757953"/>
                    <a:pt x="715936" y="575850"/>
                  </a:cubicBezTo>
                  <a:lnTo>
                    <a:pt x="715936" y="329728"/>
                  </a:lnTo>
                  <a:cubicBezTo>
                    <a:pt x="715936" y="147624"/>
                    <a:pt x="568312" y="0"/>
                    <a:pt x="386209" y="0"/>
                  </a:cubicBezTo>
                  <a:lnTo>
                    <a:pt x="0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4" name="Freeform 74"/>
            <p:cNvSpPr/>
            <p:nvPr/>
          </p:nvSpPr>
          <p:spPr>
            <a:xfrm>
              <a:off x="6165899" y="2023555"/>
              <a:ext cx="1390093" cy="919316"/>
            </a:xfrm>
            <a:custGeom>
              <a:avLst/>
              <a:gdLst/>
              <a:ahLst/>
              <a:cxnLst/>
              <a:rect l="l" t="t" r="r" b="b"/>
              <a:pathLst>
                <a:path w="1390093" h="919316">
                  <a:moveTo>
                    <a:pt x="0" y="919317"/>
                  </a:moveTo>
                  <a:lnTo>
                    <a:pt x="322448" y="919317"/>
                  </a:lnTo>
                  <a:cubicBezTo>
                    <a:pt x="500531" y="919317"/>
                    <a:pt x="644896" y="774952"/>
                    <a:pt x="644896" y="596869"/>
                  </a:cubicBezTo>
                  <a:lnTo>
                    <a:pt x="644896" y="329728"/>
                  </a:lnTo>
                  <a:cubicBezTo>
                    <a:pt x="644896" y="147624"/>
                    <a:pt x="792520" y="0"/>
                    <a:pt x="974624" y="0"/>
                  </a:cubicBezTo>
                  <a:lnTo>
                    <a:pt x="1390093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5" name="Freeform 75"/>
            <p:cNvSpPr/>
            <p:nvPr/>
          </p:nvSpPr>
          <p:spPr>
            <a:xfrm>
              <a:off x="8558549" y="2023555"/>
              <a:ext cx="1384695" cy="905577"/>
            </a:xfrm>
            <a:custGeom>
              <a:avLst/>
              <a:gdLst/>
              <a:ahLst/>
              <a:cxnLst/>
              <a:rect l="l" t="t" r="r" b="b"/>
              <a:pathLst>
                <a:path w="1384695" h="905577">
                  <a:moveTo>
                    <a:pt x="1384695" y="905578"/>
                  </a:moveTo>
                  <a:lnTo>
                    <a:pt x="1045664" y="905578"/>
                  </a:lnTo>
                  <a:cubicBezTo>
                    <a:pt x="863560" y="905578"/>
                    <a:pt x="715936" y="757954"/>
                    <a:pt x="715936" y="575850"/>
                  </a:cubicBezTo>
                  <a:lnTo>
                    <a:pt x="715936" y="329728"/>
                  </a:lnTo>
                  <a:cubicBezTo>
                    <a:pt x="715936" y="147624"/>
                    <a:pt x="568312" y="0"/>
                    <a:pt x="386208" y="0"/>
                  </a:cubicBezTo>
                  <a:lnTo>
                    <a:pt x="0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6" name="Freeform 76"/>
            <p:cNvSpPr/>
            <p:nvPr/>
          </p:nvSpPr>
          <p:spPr>
            <a:xfrm>
              <a:off x="1426275" y="3074290"/>
              <a:ext cx="1794747" cy="0"/>
            </a:xfrm>
            <a:custGeom>
              <a:avLst/>
              <a:gdLst/>
              <a:ahLst/>
              <a:cxnLst/>
              <a:rect l="l" t="t" r="r" b="b"/>
              <a:pathLst>
                <a:path w="1794747">
                  <a:moveTo>
                    <a:pt x="1794747" y="0"/>
                  </a:moveTo>
                  <a:lnTo>
                    <a:pt x="0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none" w="sm" len="sm"/>
            </a:ln>
          </p:spPr>
        </p:sp>
        <p:sp>
          <p:nvSpPr>
            <p:cNvPr id="77" name="Freeform 77"/>
            <p:cNvSpPr/>
            <p:nvPr/>
          </p:nvSpPr>
          <p:spPr>
            <a:xfrm>
              <a:off x="6165899" y="3060552"/>
              <a:ext cx="1888673" cy="0"/>
            </a:xfrm>
            <a:custGeom>
              <a:avLst/>
              <a:gdLst/>
              <a:ahLst/>
              <a:cxnLst/>
              <a:rect l="l" t="t" r="r" b="b"/>
              <a:pathLst>
                <a:path w="1888673">
                  <a:moveTo>
                    <a:pt x="1888673" y="0"/>
                  </a:moveTo>
                  <a:lnTo>
                    <a:pt x="0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8" name="Freeform 78"/>
            <p:cNvSpPr/>
            <p:nvPr/>
          </p:nvSpPr>
          <p:spPr>
            <a:xfrm>
              <a:off x="6123922" y="3184199"/>
              <a:ext cx="1888672" cy="0"/>
            </a:xfrm>
            <a:custGeom>
              <a:avLst/>
              <a:gdLst/>
              <a:ahLst/>
              <a:cxnLst/>
              <a:rect l="l" t="t" r="r" b="b"/>
              <a:pathLst>
                <a:path w="1888672">
                  <a:moveTo>
                    <a:pt x="1888672" y="0"/>
                  </a:moveTo>
                  <a:lnTo>
                    <a:pt x="0" y="0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79" name="Freeform 79"/>
            <p:cNvSpPr/>
            <p:nvPr/>
          </p:nvSpPr>
          <p:spPr>
            <a:xfrm>
              <a:off x="8083483" y="3184199"/>
              <a:ext cx="1859761" cy="792163"/>
            </a:xfrm>
            <a:custGeom>
              <a:avLst/>
              <a:gdLst/>
              <a:ahLst/>
              <a:cxnLst/>
              <a:rect l="l" t="t" r="r" b="b"/>
              <a:pathLst>
                <a:path w="1859761" h="792163">
                  <a:moveTo>
                    <a:pt x="1859761" y="0"/>
                  </a:moveTo>
                  <a:lnTo>
                    <a:pt x="329728" y="0"/>
                  </a:lnTo>
                  <a:cubicBezTo>
                    <a:pt x="147625" y="0"/>
                    <a:pt x="0" y="147625"/>
                    <a:pt x="0" y="329728"/>
                  </a:cubicBezTo>
                  <a:lnTo>
                    <a:pt x="0" y="792164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80" name="Freeform 80"/>
            <p:cNvSpPr/>
            <p:nvPr/>
          </p:nvSpPr>
          <p:spPr>
            <a:xfrm>
              <a:off x="3133628" y="3184199"/>
              <a:ext cx="1906465" cy="854084"/>
            </a:xfrm>
            <a:custGeom>
              <a:avLst/>
              <a:gdLst/>
              <a:ahLst/>
              <a:cxnLst/>
              <a:rect l="l" t="t" r="r" b="b"/>
              <a:pathLst>
                <a:path w="1906465" h="854084">
                  <a:moveTo>
                    <a:pt x="1906465" y="0"/>
                  </a:moveTo>
                  <a:lnTo>
                    <a:pt x="329728" y="0"/>
                  </a:lnTo>
                  <a:cubicBezTo>
                    <a:pt x="147624" y="0"/>
                    <a:pt x="0" y="147625"/>
                    <a:pt x="0" y="329728"/>
                  </a:cubicBezTo>
                  <a:lnTo>
                    <a:pt x="0" y="854084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81" name="Freeform 81"/>
            <p:cNvSpPr/>
            <p:nvPr/>
          </p:nvSpPr>
          <p:spPr>
            <a:xfrm>
              <a:off x="3631073" y="3184199"/>
              <a:ext cx="1384696" cy="1255152"/>
            </a:xfrm>
            <a:custGeom>
              <a:avLst/>
              <a:gdLst/>
              <a:ahLst/>
              <a:cxnLst/>
              <a:rect l="l" t="t" r="r" b="b"/>
              <a:pathLst>
                <a:path w="1384696" h="1255152">
                  <a:moveTo>
                    <a:pt x="1384696" y="0"/>
                  </a:moveTo>
                  <a:lnTo>
                    <a:pt x="1384696" y="79937"/>
                  </a:lnTo>
                  <a:cubicBezTo>
                    <a:pt x="1384696" y="101137"/>
                    <a:pt x="1376274" y="121469"/>
                    <a:pt x="1361283" y="136460"/>
                  </a:cubicBezTo>
                  <a:cubicBezTo>
                    <a:pt x="1346292" y="151451"/>
                    <a:pt x="1325960" y="159873"/>
                    <a:pt x="1304760" y="159873"/>
                  </a:cubicBezTo>
                  <a:lnTo>
                    <a:pt x="1045664" y="159873"/>
                  </a:lnTo>
                  <a:cubicBezTo>
                    <a:pt x="863561" y="159873"/>
                    <a:pt x="715936" y="307498"/>
                    <a:pt x="715936" y="489601"/>
                  </a:cubicBezTo>
                  <a:lnTo>
                    <a:pt x="715936" y="925425"/>
                  </a:lnTo>
                  <a:cubicBezTo>
                    <a:pt x="715936" y="1107528"/>
                    <a:pt x="568312" y="1255153"/>
                    <a:pt x="386209" y="1255153"/>
                  </a:cubicBezTo>
                  <a:lnTo>
                    <a:pt x="0" y="1255153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82" name="Freeform 82"/>
            <p:cNvSpPr/>
            <p:nvPr/>
          </p:nvSpPr>
          <p:spPr>
            <a:xfrm>
              <a:off x="8558549" y="3291865"/>
              <a:ext cx="1384695" cy="1147486"/>
            </a:xfrm>
            <a:custGeom>
              <a:avLst/>
              <a:gdLst/>
              <a:ahLst/>
              <a:cxnLst/>
              <a:rect l="l" t="t" r="r" b="b"/>
              <a:pathLst>
                <a:path w="1384695" h="1147486">
                  <a:moveTo>
                    <a:pt x="1384695" y="0"/>
                  </a:moveTo>
                  <a:lnTo>
                    <a:pt x="1045664" y="0"/>
                  </a:lnTo>
                  <a:cubicBezTo>
                    <a:pt x="958214" y="0"/>
                    <a:pt x="874347" y="34739"/>
                    <a:pt x="812511" y="96575"/>
                  </a:cubicBezTo>
                  <a:cubicBezTo>
                    <a:pt x="750675" y="158411"/>
                    <a:pt x="715936" y="242279"/>
                    <a:pt x="715936" y="329728"/>
                  </a:cubicBezTo>
                  <a:lnTo>
                    <a:pt x="715936" y="817759"/>
                  </a:lnTo>
                  <a:cubicBezTo>
                    <a:pt x="715936" y="905208"/>
                    <a:pt x="681197" y="989076"/>
                    <a:pt x="619361" y="1050911"/>
                  </a:cubicBezTo>
                  <a:cubicBezTo>
                    <a:pt x="557525" y="1112748"/>
                    <a:pt x="473658" y="1147487"/>
                    <a:pt x="386208" y="1147487"/>
                  </a:cubicBezTo>
                  <a:lnTo>
                    <a:pt x="0" y="1147487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83" name="Freeform 83"/>
            <p:cNvSpPr/>
            <p:nvPr/>
          </p:nvSpPr>
          <p:spPr>
            <a:xfrm>
              <a:off x="5570267" y="4227281"/>
              <a:ext cx="0" cy="573047"/>
            </a:xfrm>
            <a:custGeom>
              <a:avLst/>
              <a:gdLst/>
              <a:ahLst/>
              <a:cxnLst/>
              <a:rect l="l" t="t" r="r" b="b"/>
              <a:pathLst>
                <a:path h="573047">
                  <a:moveTo>
                    <a:pt x="0" y="0"/>
                  </a:moveTo>
                  <a:lnTo>
                    <a:pt x="0" y="573047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triangle" w="lg" len="med"/>
            </a:ln>
          </p:spPr>
        </p:sp>
        <p:sp>
          <p:nvSpPr>
            <p:cNvPr id="84" name="Freeform 84"/>
            <p:cNvSpPr/>
            <p:nvPr/>
          </p:nvSpPr>
          <p:spPr>
            <a:xfrm>
              <a:off x="6059260" y="4601216"/>
              <a:ext cx="1496732" cy="670408"/>
            </a:xfrm>
            <a:custGeom>
              <a:avLst/>
              <a:gdLst/>
              <a:ahLst/>
              <a:cxnLst/>
              <a:rect l="l" t="t" r="r" b="b"/>
              <a:pathLst>
                <a:path w="1496732" h="670408">
                  <a:moveTo>
                    <a:pt x="1496732" y="0"/>
                  </a:moveTo>
                  <a:lnTo>
                    <a:pt x="1081263" y="0"/>
                  </a:lnTo>
                  <a:cubicBezTo>
                    <a:pt x="899159" y="0"/>
                    <a:pt x="751535" y="147624"/>
                    <a:pt x="751535" y="329728"/>
                  </a:cubicBezTo>
                  <a:lnTo>
                    <a:pt x="751535" y="340680"/>
                  </a:lnTo>
                  <a:cubicBezTo>
                    <a:pt x="751535" y="522784"/>
                    <a:pt x="603911" y="670408"/>
                    <a:pt x="421807" y="670408"/>
                  </a:cubicBezTo>
                  <a:lnTo>
                    <a:pt x="0" y="670408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none" w="sm" len="sm"/>
            </a:ln>
          </p:spPr>
        </p:sp>
        <p:sp>
          <p:nvSpPr>
            <p:cNvPr id="85" name="Freeform 85"/>
            <p:cNvSpPr/>
            <p:nvPr/>
          </p:nvSpPr>
          <p:spPr>
            <a:xfrm>
              <a:off x="3631073" y="4601216"/>
              <a:ext cx="1409020" cy="633589"/>
            </a:xfrm>
            <a:custGeom>
              <a:avLst/>
              <a:gdLst/>
              <a:ahLst/>
              <a:cxnLst/>
              <a:rect l="l" t="t" r="r" b="b"/>
              <a:pathLst>
                <a:path w="1409020" h="633589">
                  <a:moveTo>
                    <a:pt x="0" y="0"/>
                  </a:moveTo>
                  <a:lnTo>
                    <a:pt x="399142" y="0"/>
                  </a:lnTo>
                  <a:cubicBezTo>
                    <a:pt x="574103" y="0"/>
                    <a:pt x="715936" y="141834"/>
                    <a:pt x="715936" y="316795"/>
                  </a:cubicBezTo>
                  <a:lnTo>
                    <a:pt x="715936" y="316795"/>
                  </a:lnTo>
                  <a:cubicBezTo>
                    <a:pt x="715936" y="491755"/>
                    <a:pt x="857770" y="633589"/>
                    <a:pt x="1032731" y="633589"/>
                  </a:cubicBezTo>
                  <a:lnTo>
                    <a:pt x="1409020" y="633589"/>
                  </a:lnTo>
                </a:path>
              </a:pathLst>
            </a:custGeom>
            <a:ln w="27477" cap="flat">
              <a:solidFill>
                <a:srgbClr val="0E59BF"/>
              </a:solidFill>
              <a:prstDash val="solid"/>
              <a:headEnd type="triangle" w="lg" len="med"/>
              <a:tailEnd type="none" w="sm" len="sm"/>
            </a:ln>
          </p:spPr>
        </p:sp>
        <p:sp>
          <p:nvSpPr>
            <p:cNvPr id="86" name="Freeform 86"/>
            <p:cNvSpPr/>
            <p:nvPr/>
          </p:nvSpPr>
          <p:spPr>
            <a:xfrm>
              <a:off x="4614288" y="0"/>
              <a:ext cx="1913192" cy="1186179"/>
            </a:xfrm>
            <a:custGeom>
              <a:avLst/>
              <a:gdLst/>
              <a:ahLst/>
              <a:cxnLst/>
              <a:rect l="l" t="t" r="r" b="b"/>
              <a:pathLst>
                <a:path w="1913192" h="1186179">
                  <a:moveTo>
                    <a:pt x="0" y="0"/>
                  </a:moveTo>
                  <a:lnTo>
                    <a:pt x="1913193" y="0"/>
                  </a:lnTo>
                  <a:lnTo>
                    <a:pt x="1913193" y="1186179"/>
                  </a:lnTo>
                  <a:lnTo>
                    <a:pt x="0" y="1186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7" name="Freeform 87"/>
            <p:cNvSpPr/>
            <p:nvPr/>
          </p:nvSpPr>
          <p:spPr>
            <a:xfrm>
              <a:off x="7773419" y="4129927"/>
              <a:ext cx="632572" cy="632572"/>
            </a:xfrm>
            <a:custGeom>
              <a:avLst/>
              <a:gdLst/>
              <a:ahLst/>
              <a:cxnLst/>
              <a:rect l="l" t="t" r="r" b="b"/>
              <a:pathLst>
                <a:path w="632572" h="632572">
                  <a:moveTo>
                    <a:pt x="0" y="0"/>
                  </a:moveTo>
                  <a:lnTo>
                    <a:pt x="632572" y="0"/>
                  </a:lnTo>
                  <a:lnTo>
                    <a:pt x="632572" y="632571"/>
                  </a:lnTo>
                  <a:lnTo>
                    <a:pt x="0" y="63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8" name="Freeform 88"/>
            <p:cNvSpPr/>
            <p:nvPr/>
          </p:nvSpPr>
          <p:spPr>
            <a:xfrm>
              <a:off x="5207349" y="2657851"/>
              <a:ext cx="727072" cy="694050"/>
            </a:xfrm>
            <a:custGeom>
              <a:avLst/>
              <a:gdLst/>
              <a:ahLst/>
              <a:cxnLst/>
              <a:rect l="l" t="t" r="r" b="b"/>
              <a:pathLst>
                <a:path w="727072" h="694050">
                  <a:moveTo>
                    <a:pt x="0" y="0"/>
                  </a:moveTo>
                  <a:lnTo>
                    <a:pt x="727071" y="0"/>
                  </a:lnTo>
                  <a:lnTo>
                    <a:pt x="727071" y="694051"/>
                  </a:lnTo>
                  <a:lnTo>
                    <a:pt x="0" y="694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9" name="Freeform 89"/>
            <p:cNvSpPr/>
            <p:nvPr/>
          </p:nvSpPr>
          <p:spPr>
            <a:xfrm>
              <a:off x="10048275" y="2787283"/>
              <a:ext cx="728717" cy="546538"/>
            </a:xfrm>
            <a:custGeom>
              <a:avLst/>
              <a:gdLst/>
              <a:ahLst/>
              <a:cxnLst/>
              <a:rect l="l" t="t" r="r" b="b"/>
              <a:pathLst>
                <a:path w="728717" h="546538">
                  <a:moveTo>
                    <a:pt x="0" y="0"/>
                  </a:moveTo>
                  <a:lnTo>
                    <a:pt x="728717" y="0"/>
                  </a:lnTo>
                  <a:lnTo>
                    <a:pt x="728717" y="546537"/>
                  </a:lnTo>
                  <a:lnTo>
                    <a:pt x="0" y="546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0" name="Freeform 90"/>
            <p:cNvSpPr/>
            <p:nvPr/>
          </p:nvSpPr>
          <p:spPr>
            <a:xfrm>
              <a:off x="5300492" y="4963897"/>
              <a:ext cx="540785" cy="697787"/>
            </a:xfrm>
            <a:custGeom>
              <a:avLst/>
              <a:gdLst/>
              <a:ahLst/>
              <a:cxnLst/>
              <a:rect l="l" t="t" r="r" b="b"/>
              <a:pathLst>
                <a:path w="540785" h="697787">
                  <a:moveTo>
                    <a:pt x="0" y="0"/>
                  </a:moveTo>
                  <a:lnTo>
                    <a:pt x="540785" y="0"/>
                  </a:lnTo>
                  <a:lnTo>
                    <a:pt x="540785" y="697787"/>
                  </a:lnTo>
                  <a:lnTo>
                    <a:pt x="0" y="697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1" name="Freeform 91"/>
            <p:cNvSpPr/>
            <p:nvPr/>
          </p:nvSpPr>
          <p:spPr>
            <a:xfrm>
              <a:off x="7736356" y="1647159"/>
              <a:ext cx="641829" cy="641829"/>
            </a:xfrm>
            <a:custGeom>
              <a:avLst/>
              <a:gdLst/>
              <a:ahLst/>
              <a:cxnLst/>
              <a:rect l="l" t="t" r="r" b="b"/>
              <a:pathLst>
                <a:path w="641829" h="641829">
                  <a:moveTo>
                    <a:pt x="0" y="0"/>
                  </a:moveTo>
                  <a:lnTo>
                    <a:pt x="641829" y="0"/>
                  </a:lnTo>
                  <a:lnTo>
                    <a:pt x="641829" y="641829"/>
                  </a:lnTo>
                  <a:lnTo>
                    <a:pt x="0" y="64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2" name="Freeform 92"/>
            <p:cNvSpPr/>
            <p:nvPr/>
          </p:nvSpPr>
          <p:spPr>
            <a:xfrm>
              <a:off x="2855060" y="4206303"/>
              <a:ext cx="556195" cy="556195"/>
            </a:xfrm>
            <a:custGeom>
              <a:avLst/>
              <a:gdLst/>
              <a:ahLst/>
              <a:cxnLst/>
              <a:rect l="l" t="t" r="r" b="b"/>
              <a:pathLst>
                <a:path w="556195" h="556195">
                  <a:moveTo>
                    <a:pt x="0" y="0"/>
                  </a:moveTo>
                  <a:lnTo>
                    <a:pt x="556195" y="0"/>
                  </a:lnTo>
                  <a:lnTo>
                    <a:pt x="556195" y="556195"/>
                  </a:lnTo>
                  <a:lnTo>
                    <a:pt x="0" y="556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3" name="Freeform 93"/>
            <p:cNvSpPr/>
            <p:nvPr/>
          </p:nvSpPr>
          <p:spPr>
            <a:xfrm>
              <a:off x="579197" y="2929133"/>
              <a:ext cx="647609" cy="492182"/>
            </a:xfrm>
            <a:custGeom>
              <a:avLst/>
              <a:gdLst/>
              <a:ahLst/>
              <a:cxnLst/>
              <a:rect l="l" t="t" r="r" b="b"/>
              <a:pathLst>
                <a:path w="647609" h="492182">
                  <a:moveTo>
                    <a:pt x="0" y="0"/>
                  </a:moveTo>
                  <a:lnTo>
                    <a:pt x="647608" y="0"/>
                  </a:lnTo>
                  <a:lnTo>
                    <a:pt x="647608" y="492182"/>
                  </a:lnTo>
                  <a:lnTo>
                    <a:pt x="0" y="492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4" name="Freeform 94"/>
            <p:cNvSpPr/>
            <p:nvPr/>
          </p:nvSpPr>
          <p:spPr>
            <a:xfrm>
              <a:off x="2782913" y="1707386"/>
              <a:ext cx="669557" cy="521375"/>
            </a:xfrm>
            <a:custGeom>
              <a:avLst/>
              <a:gdLst/>
              <a:ahLst/>
              <a:cxnLst/>
              <a:rect l="l" t="t" r="r" b="b"/>
              <a:pathLst>
                <a:path w="669557" h="521375">
                  <a:moveTo>
                    <a:pt x="0" y="0"/>
                  </a:moveTo>
                  <a:lnTo>
                    <a:pt x="669558" y="0"/>
                  </a:lnTo>
                  <a:lnTo>
                    <a:pt x="669558" y="521375"/>
                  </a:lnTo>
                  <a:lnTo>
                    <a:pt x="0" y="521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b="-23284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4694008" y="550006"/>
              <a:ext cx="1806002" cy="34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Cloud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721478" y="3454638"/>
              <a:ext cx="1806002" cy="701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Knowledge Graph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241305" y="2250888"/>
              <a:ext cx="1806002" cy="701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Enterprise Applications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154269" y="2303657"/>
              <a:ext cx="1806002" cy="34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Automation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539252" y="3392959"/>
              <a:ext cx="1806002" cy="701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Human Governance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3455712"/>
              <a:ext cx="1806002" cy="34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Analytics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2241305" y="4865145"/>
              <a:ext cx="1806002" cy="34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API Services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154269" y="4825963"/>
              <a:ext cx="1806002" cy="701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Orchestration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4694008" y="5760971"/>
              <a:ext cx="1806002" cy="344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0"/>
                </a:lnSpc>
              </a:pPr>
              <a:r>
                <a:rPr lang="en-US" sz="1514" b="1">
                  <a:solidFill>
                    <a:srgbClr val="4D4D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Security</a:t>
              </a:r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1028700" y="2045905"/>
            <a:ext cx="1356932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AI-Driven Intelligent Modernization Platform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28700" y="2828860"/>
            <a:ext cx="12109291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Modernizing enterprise applications with AI, automation and governance.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22645" y="3250368"/>
            <a:ext cx="3848100" cy="295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 dirty="0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Why Enterprises Choose </a:t>
            </a:r>
            <a:r>
              <a:rPr lang="en-US" sz="1800" b="1" dirty="0" err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</a:t>
            </a:r>
            <a:r>
              <a:rPr lang="en-US" sz="1800" b="1" dirty="0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™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118667" y="4493925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Containerized Platform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278693" y="4493037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Human-in-the-Loop AI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18667" y="6142614"/>
            <a:ext cx="1323775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Maintainable Production Code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278693" y="6141726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No Vendor Lock-In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18667" y="7791303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Enterprise Security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278693" y="7790415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Reusable AI Knowledge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4005283" y="4397881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Accelerated Modernization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027934" y="4345219"/>
            <a:ext cx="1404655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Reduced Transformation Complexity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4086164" y="5864527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Cloud-Native Applications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6143893" y="5821020"/>
            <a:ext cx="1323775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Secure Enterprise Deployment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4086164" y="7474474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Enterprise Governance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6143893" y="7430967"/>
            <a:ext cx="132377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Future-Ready Architecture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347602" y="8841105"/>
            <a:ext cx="803550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Legacy Enterprise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381455" y="8825054"/>
            <a:ext cx="1201606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AI Understanding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811661" y="8841105"/>
            <a:ext cx="842256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Knowledge Graph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8946320" y="8856345"/>
            <a:ext cx="109735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Modernization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0354578" y="8856345"/>
            <a:ext cx="80355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Validation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1540341" y="8856345"/>
            <a:ext cx="93623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Deployment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2858789" y="8841105"/>
            <a:ext cx="803550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Modern Enterprise</a:t>
            </a:r>
          </a:p>
        </p:txBody>
      </p:sp>
      <p:grpSp>
        <p:nvGrpSpPr>
          <p:cNvPr id="127" name="Group 127"/>
          <p:cNvGrpSpPr/>
          <p:nvPr/>
        </p:nvGrpSpPr>
        <p:grpSpPr>
          <a:xfrm>
            <a:off x="14005283" y="8257167"/>
            <a:ext cx="3566521" cy="1097280"/>
            <a:chOff x="0" y="0"/>
            <a:chExt cx="4755362" cy="1463040"/>
          </a:xfrm>
        </p:grpSpPr>
        <p:sp>
          <p:nvSpPr>
            <p:cNvPr id="128" name="Freeform 128"/>
            <p:cNvSpPr/>
            <p:nvPr/>
          </p:nvSpPr>
          <p:spPr>
            <a:xfrm>
              <a:off x="2457791" y="1191866"/>
              <a:ext cx="199122" cy="152328"/>
            </a:xfrm>
            <a:custGeom>
              <a:avLst/>
              <a:gdLst/>
              <a:ahLst/>
              <a:cxnLst/>
              <a:rect l="l" t="t" r="r" b="b"/>
              <a:pathLst>
                <a:path w="199122" h="152328">
                  <a:moveTo>
                    <a:pt x="0" y="0"/>
                  </a:moveTo>
                  <a:lnTo>
                    <a:pt x="199121" y="0"/>
                  </a:lnTo>
                  <a:lnTo>
                    <a:pt x="199121" y="152328"/>
                  </a:lnTo>
                  <a:lnTo>
                    <a:pt x="0" y="152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185620" y="-47625"/>
              <a:ext cx="4569742" cy="1510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b="1" i="1">
                  <a:solidFill>
                    <a:srgbClr val="4D4D4D"/>
                  </a:solidFill>
                  <a:latin typeface="Inter Medium Italics"/>
                  <a:ea typeface="Inter Medium Italics"/>
                  <a:cs typeface="Inter Medium Italics"/>
                  <a:sym typeface="Inter Medium Italics"/>
                </a:rPr>
                <a:t>AIForge enables organizations to modernize complex legacy software by combining AI-driven analysis, intelligent automation and enterprise governance into one secure modernization platform.</a:t>
              </a:r>
            </a:p>
          </p:txBody>
        </p:sp>
        <p:sp>
          <p:nvSpPr>
            <p:cNvPr id="130" name="Freeform 130"/>
            <p:cNvSpPr/>
            <p:nvPr/>
          </p:nvSpPr>
          <p:spPr>
            <a:xfrm flipH="1">
              <a:off x="0" y="0"/>
              <a:ext cx="199122" cy="152328"/>
            </a:xfrm>
            <a:custGeom>
              <a:avLst/>
              <a:gdLst/>
              <a:ahLst/>
              <a:cxnLst/>
              <a:rect l="l" t="t" r="r" b="b"/>
              <a:pathLst>
                <a:path w="199122" h="152328">
                  <a:moveTo>
                    <a:pt x="199122" y="0"/>
                  </a:moveTo>
                  <a:lnTo>
                    <a:pt x="0" y="0"/>
                  </a:lnTo>
                  <a:lnTo>
                    <a:pt x="0" y="152328"/>
                  </a:lnTo>
                  <a:lnTo>
                    <a:pt x="199122" y="152328"/>
                  </a:lnTo>
                  <a:lnTo>
                    <a:pt x="199122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6164" y="5697888"/>
            <a:ext cx="5687736" cy="5687736"/>
          </a:xfrm>
          <a:custGeom>
            <a:avLst/>
            <a:gdLst/>
            <a:ahLst/>
            <a:cxnLst/>
            <a:rect l="l" t="t" r="r" b="b"/>
            <a:pathLst>
              <a:path w="5687736" h="5687736">
                <a:moveTo>
                  <a:pt x="0" y="0"/>
                </a:moveTo>
                <a:lnTo>
                  <a:pt x="5687735" y="0"/>
                </a:lnTo>
                <a:lnTo>
                  <a:pt x="5687735" y="5687736"/>
                </a:lnTo>
                <a:lnTo>
                  <a:pt x="0" y="568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02979" y="3387559"/>
            <a:ext cx="5567632" cy="8102459"/>
            <a:chOff x="0" y="0"/>
            <a:chExt cx="7423510" cy="108032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23510" cy="5901690"/>
            </a:xfrm>
            <a:custGeom>
              <a:avLst/>
              <a:gdLst/>
              <a:ahLst/>
              <a:cxnLst/>
              <a:rect l="l" t="t" r="r" b="b"/>
              <a:pathLst>
                <a:path w="7423510" h="5901690">
                  <a:moveTo>
                    <a:pt x="0" y="0"/>
                  </a:moveTo>
                  <a:lnTo>
                    <a:pt x="7423510" y="0"/>
                  </a:lnTo>
                  <a:lnTo>
                    <a:pt x="7423510" y="5901690"/>
                  </a:lnTo>
                  <a:lnTo>
                    <a:pt x="0" y="590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02811" y="5901690"/>
              <a:ext cx="6165520" cy="4901588"/>
            </a:xfrm>
            <a:custGeom>
              <a:avLst/>
              <a:gdLst/>
              <a:ahLst/>
              <a:cxnLst/>
              <a:rect l="l" t="t" r="r" b="b"/>
              <a:pathLst>
                <a:path w="6165520" h="4901588">
                  <a:moveTo>
                    <a:pt x="0" y="0"/>
                  </a:moveTo>
                  <a:lnTo>
                    <a:pt x="6165520" y="0"/>
                  </a:lnTo>
                  <a:lnTo>
                    <a:pt x="6165520" y="4901589"/>
                  </a:lnTo>
                  <a:lnTo>
                    <a:pt x="0" y="490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837088" y="-2839482"/>
            <a:ext cx="4565986" cy="6644784"/>
            <a:chOff x="0" y="0"/>
            <a:chExt cx="6087981" cy="8859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87981" cy="4839945"/>
            </a:xfrm>
            <a:custGeom>
              <a:avLst/>
              <a:gdLst/>
              <a:ahLst/>
              <a:cxnLst/>
              <a:rect l="l" t="t" r="r" b="b"/>
              <a:pathLst>
                <a:path w="6087981" h="4839945">
                  <a:moveTo>
                    <a:pt x="0" y="0"/>
                  </a:moveTo>
                  <a:lnTo>
                    <a:pt x="6087981" y="0"/>
                  </a:lnTo>
                  <a:lnTo>
                    <a:pt x="6087981" y="4839945"/>
                  </a:lnTo>
                  <a:lnTo>
                    <a:pt x="0" y="4839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22400" y="4839945"/>
              <a:ext cx="5056311" cy="4019767"/>
            </a:xfrm>
            <a:custGeom>
              <a:avLst/>
              <a:gdLst/>
              <a:ahLst/>
              <a:cxnLst/>
              <a:rect l="l" t="t" r="r" b="b"/>
              <a:pathLst>
                <a:path w="5056311" h="4019767">
                  <a:moveTo>
                    <a:pt x="0" y="0"/>
                  </a:moveTo>
                  <a:lnTo>
                    <a:pt x="5056311" y="0"/>
                  </a:lnTo>
                  <a:lnTo>
                    <a:pt x="5056311" y="4019767"/>
                  </a:lnTo>
                  <a:lnTo>
                    <a:pt x="0" y="401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186005" y="1028700"/>
            <a:ext cx="3231177" cy="1524433"/>
          </a:xfrm>
          <a:custGeom>
            <a:avLst/>
            <a:gdLst/>
            <a:ahLst/>
            <a:cxnLst/>
            <a:rect l="l" t="t" r="r" b="b"/>
            <a:pathLst>
              <a:path w="3231177" h="1524433">
                <a:moveTo>
                  <a:pt x="0" y="0"/>
                </a:moveTo>
                <a:lnTo>
                  <a:pt x="3231177" y="0"/>
                </a:lnTo>
                <a:lnTo>
                  <a:pt x="3231177" y="1524433"/>
                </a:lnTo>
                <a:lnTo>
                  <a:pt x="0" y="1524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36" t="-57970" r="-36884" b="-69139"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028700" y="9653588"/>
            <a:ext cx="16073295" cy="0"/>
          </a:xfrm>
          <a:prstGeom prst="line">
            <a:avLst/>
          </a:prstGeom>
          <a:ln w="9525" cap="flat">
            <a:solidFill>
              <a:srgbClr val="4D4D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84220" y="8521449"/>
            <a:ext cx="386309" cy="330294"/>
          </a:xfrm>
          <a:custGeom>
            <a:avLst/>
            <a:gdLst/>
            <a:ahLst/>
            <a:cxnLst/>
            <a:rect l="l" t="t" r="r" b="b"/>
            <a:pathLst>
              <a:path w="386309" h="330294">
                <a:moveTo>
                  <a:pt x="0" y="0"/>
                </a:moveTo>
                <a:lnTo>
                  <a:pt x="386309" y="0"/>
                </a:lnTo>
                <a:lnTo>
                  <a:pt x="386309" y="330294"/>
                </a:lnTo>
                <a:lnTo>
                  <a:pt x="0" y="33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60295" y="8547263"/>
            <a:ext cx="289537" cy="295446"/>
          </a:xfrm>
          <a:custGeom>
            <a:avLst/>
            <a:gdLst/>
            <a:ahLst/>
            <a:cxnLst/>
            <a:rect l="l" t="t" r="r" b="b"/>
            <a:pathLst>
              <a:path w="289537" h="295446">
                <a:moveTo>
                  <a:pt x="0" y="0"/>
                </a:moveTo>
                <a:lnTo>
                  <a:pt x="289537" y="0"/>
                </a:lnTo>
                <a:lnTo>
                  <a:pt x="289537" y="295446"/>
                </a:lnTo>
                <a:lnTo>
                  <a:pt x="0" y="295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929006" y="8521449"/>
            <a:ext cx="330294" cy="330294"/>
          </a:xfrm>
          <a:custGeom>
            <a:avLst/>
            <a:gdLst/>
            <a:ahLst/>
            <a:cxnLst/>
            <a:rect l="l" t="t" r="r" b="b"/>
            <a:pathLst>
              <a:path w="330294" h="330294">
                <a:moveTo>
                  <a:pt x="0" y="0"/>
                </a:moveTo>
                <a:lnTo>
                  <a:pt x="330294" y="0"/>
                </a:lnTo>
                <a:lnTo>
                  <a:pt x="330294" y="330294"/>
                </a:lnTo>
                <a:lnTo>
                  <a:pt x="0" y="33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24272" y="8521449"/>
            <a:ext cx="330294" cy="330294"/>
          </a:xfrm>
          <a:custGeom>
            <a:avLst/>
            <a:gdLst/>
            <a:ahLst/>
            <a:cxnLst/>
            <a:rect l="l" t="t" r="r" b="b"/>
            <a:pathLst>
              <a:path w="330294" h="330294">
                <a:moveTo>
                  <a:pt x="0" y="0"/>
                </a:moveTo>
                <a:lnTo>
                  <a:pt x="330294" y="0"/>
                </a:lnTo>
                <a:lnTo>
                  <a:pt x="330294" y="330294"/>
                </a:lnTo>
                <a:lnTo>
                  <a:pt x="0" y="33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56015" y="3647139"/>
            <a:ext cx="15281103" cy="1811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Ready to Modernize? Transform Legacy 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D4D4D"/>
                </a:solidFill>
                <a:latin typeface="Inter Bold"/>
                <a:ea typeface="Inter Bold"/>
                <a:cs typeface="Inter Bold"/>
                <a:sym typeface="Inter Bold"/>
              </a:rPr>
              <a:t>Systems into Intelligent Enterprise Applications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75070" y="5708549"/>
            <a:ext cx="1246848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4D4D4D"/>
                </a:solidFill>
                <a:latin typeface="Inter Medium"/>
                <a:ea typeface="Inter Medium"/>
                <a:cs typeface="Inter Medium"/>
                <a:sym typeface="Inter Medium"/>
              </a:rPr>
              <a:t>Modernization isn’t about replacing software. It’s about preserving business knowledge while accelerating innovation through AI.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503656"/>
            <a:ext cx="435014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Contact </a:t>
            </a:r>
            <a:r>
              <a:rPr lang="en-US" sz="21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Us</a:t>
            </a:r>
            <a:r>
              <a:rPr lang="en-US" sz="2100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  </a:t>
            </a: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(703) 559-3280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09760" y="9061132"/>
            <a:ext cx="1246848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Powered by AIForge™ AI-Driven Intelligent Modernization Platform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86791" y="1210527"/>
            <a:ext cx="190991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AIFORGE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72241" y="1302427"/>
            <a:ext cx="32975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TM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86996" y="1806018"/>
            <a:ext cx="690034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AI-Driven Intelligent Modernization Platform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75070" y="9810750"/>
            <a:ext cx="1246848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Copyright © NetImpact Strategies Enterprise AI Modernization 2026. All Rights Reserved.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90693" y="8483349"/>
            <a:ext cx="144333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E59BF"/>
                </a:solidFill>
                <a:latin typeface="Inter Bold"/>
                <a:ea typeface="Inter Bold"/>
                <a:cs typeface="Inter Bold"/>
                <a:sym typeface="Inter Bold"/>
              </a:rPr>
              <a:t>Follow </a:t>
            </a:r>
            <a:r>
              <a:rPr lang="en-US" sz="2100" b="1">
                <a:solidFill>
                  <a:srgbClr val="FF5F23"/>
                </a:solidFill>
                <a:latin typeface="Inter Bold"/>
                <a:ea typeface="Inter Bold"/>
                <a:cs typeface="Inter Bold"/>
                <a:sym typeface="Inter Bold"/>
              </a:rPr>
              <a:t>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879</Words>
  <Application>Microsoft Office PowerPoint</Application>
  <PresentationFormat>Custom</PresentationFormat>
  <Paragraphs>219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 Medium Italics</vt:lpstr>
      <vt:lpstr>Inter</vt:lpstr>
      <vt:lpstr>Inter Medium</vt:lpstr>
      <vt:lpstr>Calibri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AIFORGE</dc:title>
  <cp:lastModifiedBy>Sarkar Niharika</cp:lastModifiedBy>
  <cp:revision>8</cp:revision>
  <dcterms:created xsi:type="dcterms:W3CDTF">2006-08-16T00:00:00Z</dcterms:created>
  <dcterms:modified xsi:type="dcterms:W3CDTF">2026-07-31T17:10:46Z</dcterms:modified>
  <dc:identifier>DAHQ2e2Snow</dc:identifier>
</cp:coreProperties>
</file>